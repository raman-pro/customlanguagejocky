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E9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0886094" y="1775938"/>
            <a:ext cx="6957908" cy="7732452"/>
            <a:chOff x="0" y="0"/>
            <a:chExt cx="9277210" cy="103099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77210" cy="10309936"/>
            </a:xfrm>
            <a:custGeom>
              <a:avLst/>
              <a:gdLst/>
              <a:ahLst/>
              <a:cxnLst/>
              <a:rect r="r" b="b" t="t" l="l"/>
              <a:pathLst>
                <a:path h="10309936" w="9277210">
                  <a:moveTo>
                    <a:pt x="0" y="0"/>
                  </a:moveTo>
                  <a:lnTo>
                    <a:pt x="9277210" y="0"/>
                  </a:lnTo>
                  <a:lnTo>
                    <a:pt x="9277210" y="10309936"/>
                  </a:lnTo>
                  <a:lnTo>
                    <a:pt x="0" y="10309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2870187" y="1901086"/>
              <a:ext cx="6407023" cy="6852476"/>
              <a:chOff x="0" y="0"/>
              <a:chExt cx="6407023" cy="685247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407023" cy="6852412"/>
              </a:xfrm>
              <a:custGeom>
                <a:avLst/>
                <a:gdLst/>
                <a:ahLst/>
                <a:cxnLst/>
                <a:rect r="r" b="b" t="t" l="l"/>
                <a:pathLst>
                  <a:path h="6852412" w="6407023">
                    <a:moveTo>
                      <a:pt x="0" y="0"/>
                    </a:moveTo>
                    <a:lnTo>
                      <a:pt x="6407023" y="0"/>
                    </a:lnTo>
                    <a:lnTo>
                      <a:pt x="6407023" y="6852412"/>
                    </a:lnTo>
                    <a:lnTo>
                      <a:pt x="0" y="685241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-149475" b="-1"/>
                </a:stretch>
              </a:blipFill>
            </p:spPr>
          </p:sp>
        </p:grpSp>
      </p:grp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77906" y="4467225"/>
            <a:ext cx="11157730" cy="50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 Statement ID - 26148</a:t>
            </a:r>
          </a:p>
          <a:p>
            <a:pPr algn="l">
              <a:lnSpc>
                <a:spcPts val="1750"/>
              </a:lnSpc>
            </a:pPr>
          </a:p>
          <a:p>
            <a:pPr algn="l" marL="734061" indent="-367031" lvl="1">
              <a:lnSpc>
                <a:spcPts val="4080"/>
              </a:lnSpc>
              <a:buFont typeface="Arial"/>
              <a:buChar char="•"/>
            </a:pPr>
            <a:r>
              <a:rPr lang="en-US" b="true" sz="34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 Statement Title - </a:t>
            </a:r>
            <a:r>
              <a:rPr lang="en-US" sz="34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Creation of scripts/functions with new programming language to commence Computer &amp; Network forensic analysis without triggering security solutions</a:t>
            </a: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Theme - Blockchain &amp; Cybersecurity</a:t>
            </a: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PS Category- Software</a:t>
            </a: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Team ID- </a:t>
            </a: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Team Name - SIG_OUT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81884" y="1671163"/>
            <a:ext cx="2828608" cy="903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0"/>
              </a:lnSpc>
            </a:pPr>
            <a:r>
              <a:rPr lang="en-US" sz="5300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JOCKEY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E9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2549313" y="-446717"/>
            <a:ext cx="12390394" cy="2167814"/>
            <a:chOff x="0" y="0"/>
            <a:chExt cx="16520526" cy="28904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520525" cy="2890419"/>
            </a:xfrm>
            <a:custGeom>
              <a:avLst/>
              <a:gdLst/>
              <a:ahLst/>
              <a:cxnLst/>
              <a:rect r="r" b="b" t="t" l="l"/>
              <a:pathLst>
                <a:path h="2890419" w="16520525">
                  <a:moveTo>
                    <a:pt x="0" y="0"/>
                  </a:moveTo>
                  <a:lnTo>
                    <a:pt x="16520525" y="0"/>
                  </a:lnTo>
                  <a:lnTo>
                    <a:pt x="16520525" y="2890419"/>
                  </a:lnTo>
                  <a:lnTo>
                    <a:pt x="0" y="2890419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520526" cy="28904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JOCKY - [TODO: Add one line text]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16980" y="982521"/>
            <a:ext cx="9135267" cy="1584752"/>
            <a:chOff x="0" y="0"/>
            <a:chExt cx="3298068" cy="5721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98068" cy="572137"/>
            </a:xfrm>
            <a:custGeom>
              <a:avLst/>
              <a:gdLst/>
              <a:ahLst/>
              <a:cxnLst/>
              <a:rect r="r" b="b" t="t" l="l"/>
              <a:pathLst>
                <a:path h="572137" w="3298068">
                  <a:moveTo>
                    <a:pt x="3298068" y="34747"/>
                  </a:moveTo>
                  <a:lnTo>
                    <a:pt x="3298068" y="537390"/>
                  </a:lnTo>
                  <a:cubicBezTo>
                    <a:pt x="3298068" y="556580"/>
                    <a:pt x="3282512" y="572137"/>
                    <a:pt x="3263322" y="572137"/>
                  </a:cubicBezTo>
                  <a:lnTo>
                    <a:pt x="34747" y="572137"/>
                  </a:lnTo>
                  <a:cubicBezTo>
                    <a:pt x="15557" y="572137"/>
                    <a:pt x="0" y="556580"/>
                    <a:pt x="0" y="537390"/>
                  </a:cubicBezTo>
                  <a:lnTo>
                    <a:pt x="0" y="34747"/>
                  </a:lnTo>
                  <a:cubicBezTo>
                    <a:pt x="0" y="15557"/>
                    <a:pt x="15557" y="0"/>
                    <a:pt x="34747" y="0"/>
                  </a:cubicBezTo>
                  <a:lnTo>
                    <a:pt x="3263322" y="0"/>
                  </a:lnTo>
                  <a:cubicBezTo>
                    <a:pt x="3282512" y="0"/>
                    <a:pt x="3298068" y="15557"/>
                    <a:pt x="3298068" y="34747"/>
                  </a:cubicBezTo>
                  <a:close/>
                </a:path>
              </a:pathLst>
            </a:custGeom>
            <a:solidFill>
              <a:srgbClr val="FABEC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98068" cy="610237"/>
            </a:xfrm>
            <a:prstGeom prst="rect">
              <a:avLst/>
            </a:prstGeom>
          </p:spPr>
          <p:txBody>
            <a:bodyPr anchor="ctr" rtlCol="false" tIns="37059" lIns="37059" bIns="37059" rIns="37059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6257" y="2744631"/>
            <a:ext cx="375758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Proposed Solution</a:t>
            </a:r>
          </a:p>
        </p:txBody>
      </p:sp>
      <p:sp>
        <p:nvSpPr>
          <p:cNvPr name="AutoShape 9" id="9"/>
          <p:cNvSpPr/>
          <p:nvPr/>
        </p:nvSpPr>
        <p:spPr>
          <a:xfrm>
            <a:off x="216257" y="3220881"/>
            <a:ext cx="39994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-416980" y="3351469"/>
            <a:ext cx="551991" cy="275995"/>
            <a:chOff x="0" y="0"/>
            <a:chExt cx="406400" cy="20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203200"/>
            </a:xfrm>
            <a:custGeom>
              <a:avLst/>
              <a:gdLst/>
              <a:ahLst/>
              <a:cxnLst/>
              <a:rect r="r" b="b" t="t" l="l"/>
              <a:pathLst>
                <a:path h="2032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101600"/>
                  </a:lnTo>
                  <a:lnTo>
                    <a:pt x="203200" y="203200"/>
                  </a:lnTo>
                  <a:lnTo>
                    <a:pt x="0" y="203200"/>
                  </a:lnTo>
                  <a:lnTo>
                    <a:pt x="203200" y="10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6A8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-38100"/>
              <a:ext cx="1524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0" y="6553186"/>
            <a:ext cx="3364648" cy="567359"/>
            <a:chOff x="0" y="0"/>
            <a:chExt cx="849402" cy="1432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9402" cy="143229"/>
            </a:xfrm>
            <a:custGeom>
              <a:avLst/>
              <a:gdLst/>
              <a:ahLst/>
              <a:cxnLst/>
              <a:rect r="r" b="b" t="t" l="l"/>
              <a:pathLst>
                <a:path h="143229" w="849402">
                  <a:moveTo>
                    <a:pt x="46019" y="0"/>
                  </a:moveTo>
                  <a:lnTo>
                    <a:pt x="803383" y="0"/>
                  </a:lnTo>
                  <a:cubicBezTo>
                    <a:pt x="815588" y="0"/>
                    <a:pt x="827293" y="4848"/>
                    <a:pt x="835923" y="13479"/>
                  </a:cubicBezTo>
                  <a:cubicBezTo>
                    <a:pt x="844554" y="22109"/>
                    <a:pt x="849402" y="33814"/>
                    <a:pt x="849402" y="46019"/>
                  </a:cubicBezTo>
                  <a:lnTo>
                    <a:pt x="849402" y="97210"/>
                  </a:lnTo>
                  <a:cubicBezTo>
                    <a:pt x="849402" y="122626"/>
                    <a:pt x="828799" y="143229"/>
                    <a:pt x="803383" y="143229"/>
                  </a:cubicBezTo>
                  <a:lnTo>
                    <a:pt x="46019" y="143229"/>
                  </a:lnTo>
                  <a:cubicBezTo>
                    <a:pt x="33814" y="143229"/>
                    <a:pt x="22109" y="138381"/>
                    <a:pt x="13479" y="129750"/>
                  </a:cubicBezTo>
                  <a:cubicBezTo>
                    <a:pt x="4848" y="121120"/>
                    <a:pt x="0" y="109415"/>
                    <a:pt x="0" y="97210"/>
                  </a:cubicBezTo>
                  <a:lnTo>
                    <a:pt x="0" y="46019"/>
                  </a:lnTo>
                  <a:cubicBezTo>
                    <a:pt x="0" y="33814"/>
                    <a:pt x="4848" y="22109"/>
                    <a:pt x="13479" y="13479"/>
                  </a:cubicBezTo>
                  <a:cubicBezTo>
                    <a:pt x="22109" y="4848"/>
                    <a:pt x="33814" y="0"/>
                    <a:pt x="46019" y="0"/>
                  </a:cubicBezTo>
                  <a:close/>
                </a:path>
              </a:pathLst>
            </a:custGeom>
            <a:solidFill>
              <a:srgbClr val="E97F1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49402" cy="190854"/>
            </a:xfrm>
            <a:prstGeom prst="rect">
              <a:avLst/>
            </a:prstGeom>
          </p:spPr>
          <p:txBody>
            <a:bodyPr anchor="ctr" rtlCol="false" tIns="52999" lIns="52999" bIns="52999" rIns="52999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6" id="16"/>
          <p:cNvSpPr/>
          <p:nvPr/>
        </p:nvSpPr>
        <p:spPr>
          <a:xfrm>
            <a:off x="9377635" y="8125463"/>
            <a:ext cx="495583" cy="0"/>
          </a:xfrm>
          <a:prstGeom prst="line">
            <a:avLst/>
          </a:prstGeom>
          <a:ln cap="flat" w="38100">
            <a:solidFill>
              <a:srgbClr val="E97F1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>
            <a:off x="9386991" y="7452853"/>
            <a:ext cx="451299" cy="0"/>
          </a:xfrm>
          <a:prstGeom prst="line">
            <a:avLst/>
          </a:prstGeom>
          <a:ln cap="flat" w="38100">
            <a:solidFill>
              <a:srgbClr val="E97F1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>
            <a:off x="9377635" y="8798004"/>
            <a:ext cx="428739" cy="29215"/>
          </a:xfrm>
          <a:prstGeom prst="line">
            <a:avLst/>
          </a:prstGeom>
          <a:ln cap="flat" w="38100">
            <a:solidFill>
              <a:srgbClr val="E97F1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9" id="19"/>
          <p:cNvSpPr/>
          <p:nvPr/>
        </p:nvSpPr>
        <p:spPr>
          <a:xfrm flipV="true">
            <a:off x="9386991" y="7089469"/>
            <a:ext cx="0" cy="2697378"/>
          </a:xfrm>
          <a:prstGeom prst="line">
            <a:avLst/>
          </a:prstGeom>
          <a:ln cap="flat" w="38100">
            <a:solidFill>
              <a:srgbClr val="E97F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9387160" y="9277349"/>
            <a:ext cx="419214" cy="3724"/>
          </a:xfrm>
          <a:prstGeom prst="line">
            <a:avLst/>
          </a:prstGeom>
          <a:ln cap="flat" w="38100">
            <a:solidFill>
              <a:srgbClr val="E97F1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1" id="21"/>
          <p:cNvSpPr/>
          <p:nvPr/>
        </p:nvSpPr>
        <p:spPr>
          <a:xfrm flipV="true">
            <a:off x="9386991" y="9764125"/>
            <a:ext cx="410027" cy="1862"/>
          </a:xfrm>
          <a:prstGeom prst="line">
            <a:avLst/>
          </a:prstGeom>
          <a:ln cap="flat" w="38100">
            <a:solidFill>
              <a:srgbClr val="E97F1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2" id="22"/>
          <p:cNvSpPr txBox="true"/>
          <p:nvPr/>
        </p:nvSpPr>
        <p:spPr>
          <a:xfrm rot="0">
            <a:off x="172887" y="3332419"/>
            <a:ext cx="854540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38"/>
              </a:lnSpc>
            </a:pPr>
            <a:r>
              <a:rPr lang="en-US" sz="178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Jocky </a:t>
            </a:r>
            <a:r>
              <a:rPr lang="en-US" sz="1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A cross-platform programming language framework that enables systematic forensic analysis , bypassing all existing antivirus solutions through novel binary structures, polymorphic compilation, and living-off-the-land execution techniques.</a:t>
            </a:r>
          </a:p>
          <a:p>
            <a:pPr algn="l">
              <a:lnSpc>
                <a:spcPts val="2138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321271" y="6622552"/>
            <a:ext cx="308806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  <a:spcBef>
                <a:spcPct val="0"/>
              </a:spcBef>
            </a:pPr>
            <a:r>
              <a:rPr lang="en-US" b="true" sz="224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Problems Addressed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9111" y="1422524"/>
            <a:ext cx="8133878" cy="1103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0"/>
              </a:lnSpc>
              <a:spcBef>
                <a:spcPct val="0"/>
              </a:spcBef>
            </a:pPr>
            <a:r>
              <a:rPr lang="en-US" sz="1825" spc="8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Creation of </a:t>
            </a:r>
            <a:r>
              <a:rPr lang="en-US" b="true" sz="1825" spc="82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forensic analysis scripts</a:t>
            </a:r>
            <a:r>
              <a:rPr lang="en-US" sz="1825" spc="8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in a </a:t>
            </a:r>
            <a:r>
              <a:rPr lang="en-US" b="true" sz="1825" spc="82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new language</a:t>
            </a:r>
            <a:r>
              <a:rPr lang="en-US" sz="1825" spc="8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to avoid antivirus detection and kernel level security by preventing file reputation and dynamic analysis through a </a:t>
            </a:r>
            <a:r>
              <a:rPr lang="en-US" b="true" sz="1825" spc="82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Continous Integration/Continous Deployment(CI/CD)</a:t>
            </a:r>
            <a:r>
              <a:rPr lang="en-US" sz="1825" spc="8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pipeline.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2887" y="1074817"/>
            <a:ext cx="20620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BRIEF OF IDEA -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73218" y="7168169"/>
            <a:ext cx="8170465" cy="559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2"/>
              </a:lnSpc>
              <a:spcBef>
                <a:spcPct val="0"/>
              </a:spcBef>
            </a:pPr>
            <a:r>
              <a:rPr lang="en-US" sz="181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Custom LLVM IR alters binary signatures completely resulting in non detection by AV/EDR blocks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73218" y="7840779"/>
            <a:ext cx="8170465" cy="559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2"/>
              </a:lnSpc>
              <a:spcBef>
                <a:spcPct val="0"/>
              </a:spcBef>
            </a:pPr>
            <a:r>
              <a:rPr lang="en-US" sz="181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LotL + direct syscalls bypass behavioral monitoring leading to aversion by behavioral heuristics methods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73218" y="8511458"/>
            <a:ext cx="8170465" cy="559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2"/>
              </a:lnSpc>
              <a:spcBef>
                <a:spcPct val="0"/>
              </a:spcBef>
            </a:pPr>
            <a:r>
              <a:rPr lang="en-US" sz="181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Polymorphic engine generates unique binaries per deployment which tricks reputation databases maintained by antivirues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73218" y="9184069"/>
            <a:ext cx="8170465" cy="284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  <a:spcBef>
                <a:spcPct val="0"/>
              </a:spcBef>
            </a:pPr>
            <a:r>
              <a:rPr lang="en-US" sz="180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BYOVD techniques blind kernel security agents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73218" y="9601902"/>
            <a:ext cx="8170465" cy="559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  <a:spcBef>
                <a:spcPct val="0"/>
              </a:spcBef>
            </a:pPr>
            <a:r>
              <a:rPr lang="en-US" sz="180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Domain fronting via tr</a:t>
            </a:r>
            <a:r>
              <a:rPr lang="en-US" sz="180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usted cloud infrastructure ensures that the network traffic does not get flagged</a:t>
            </a:r>
          </a:p>
        </p:txBody>
      </p:sp>
      <p:sp>
        <p:nvSpPr>
          <p:cNvPr name="AutoShape 31" id="31"/>
          <p:cNvSpPr/>
          <p:nvPr/>
        </p:nvSpPr>
        <p:spPr>
          <a:xfrm>
            <a:off x="7896539" y="4658261"/>
            <a:ext cx="0" cy="5099129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4052017" y="8003540"/>
            <a:ext cx="813931" cy="0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675769" y="9762389"/>
            <a:ext cx="944589" cy="0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2615359" y="7650600"/>
            <a:ext cx="0" cy="2116787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5244731" y="9762389"/>
            <a:ext cx="944589" cy="0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6941937" y="9762389"/>
            <a:ext cx="954602" cy="0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5249730" y="7650600"/>
            <a:ext cx="0" cy="2116787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913154" y="9300765"/>
            <a:ext cx="762615" cy="762615"/>
          </a:xfrm>
          <a:custGeom>
            <a:avLst/>
            <a:gdLst/>
            <a:ahLst/>
            <a:cxnLst/>
            <a:rect r="r" b="b" t="t" l="l"/>
            <a:pathLst>
              <a:path h="762615" w="762615">
                <a:moveTo>
                  <a:pt x="0" y="0"/>
                </a:moveTo>
                <a:lnTo>
                  <a:pt x="762615" y="0"/>
                </a:lnTo>
                <a:lnTo>
                  <a:pt x="762615" y="762615"/>
                </a:lnTo>
                <a:lnTo>
                  <a:pt x="0" y="7626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99111" y="7388267"/>
            <a:ext cx="2190701" cy="2190701"/>
          </a:xfrm>
          <a:custGeom>
            <a:avLst/>
            <a:gdLst/>
            <a:ahLst/>
            <a:cxnLst/>
            <a:rect r="r" b="b" t="t" l="l"/>
            <a:pathLst>
              <a:path h="2190701" w="2190701">
                <a:moveTo>
                  <a:pt x="0" y="0"/>
                </a:moveTo>
                <a:lnTo>
                  <a:pt x="2190701" y="0"/>
                </a:lnTo>
                <a:lnTo>
                  <a:pt x="2190701" y="2190701"/>
                </a:lnTo>
                <a:lnTo>
                  <a:pt x="0" y="21907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970999" y="9358610"/>
            <a:ext cx="646926" cy="646926"/>
          </a:xfrm>
          <a:custGeom>
            <a:avLst/>
            <a:gdLst/>
            <a:ahLst/>
            <a:cxnLst/>
            <a:rect r="r" b="b" t="t" l="l"/>
            <a:pathLst>
              <a:path h="646926" w="646926">
                <a:moveTo>
                  <a:pt x="0" y="0"/>
                </a:moveTo>
                <a:lnTo>
                  <a:pt x="646925" y="0"/>
                </a:lnTo>
                <a:lnTo>
                  <a:pt x="646925" y="646925"/>
                </a:lnTo>
                <a:lnTo>
                  <a:pt x="0" y="6469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3555854" y="7276055"/>
            <a:ext cx="749794" cy="749794"/>
          </a:xfrm>
          <a:custGeom>
            <a:avLst/>
            <a:gdLst/>
            <a:ahLst/>
            <a:cxnLst/>
            <a:rect r="r" b="b" t="t" l="l"/>
            <a:pathLst>
              <a:path h="749794" w="749794">
                <a:moveTo>
                  <a:pt x="0" y="0"/>
                </a:moveTo>
                <a:lnTo>
                  <a:pt x="749794" y="0"/>
                </a:lnTo>
                <a:lnTo>
                  <a:pt x="749794" y="749794"/>
                </a:lnTo>
                <a:lnTo>
                  <a:pt x="0" y="7497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2835400" y="7872679"/>
            <a:ext cx="2190701" cy="2190701"/>
          </a:xfrm>
          <a:custGeom>
            <a:avLst/>
            <a:gdLst/>
            <a:ahLst/>
            <a:cxnLst/>
            <a:rect r="r" b="b" t="t" l="l"/>
            <a:pathLst>
              <a:path h="2190701" w="2190701">
                <a:moveTo>
                  <a:pt x="0" y="0"/>
                </a:moveTo>
                <a:lnTo>
                  <a:pt x="2190701" y="0"/>
                </a:lnTo>
                <a:lnTo>
                  <a:pt x="2190701" y="2190701"/>
                </a:lnTo>
                <a:lnTo>
                  <a:pt x="0" y="21907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3607288" y="7327489"/>
            <a:ext cx="646926" cy="646926"/>
          </a:xfrm>
          <a:custGeom>
            <a:avLst/>
            <a:gdLst/>
            <a:ahLst/>
            <a:cxnLst/>
            <a:rect r="r" b="b" t="t" l="l"/>
            <a:pathLst>
              <a:path h="646926" w="646926">
                <a:moveTo>
                  <a:pt x="0" y="0"/>
                </a:moveTo>
                <a:lnTo>
                  <a:pt x="646926" y="0"/>
                </a:lnTo>
                <a:lnTo>
                  <a:pt x="646926" y="646926"/>
                </a:lnTo>
                <a:lnTo>
                  <a:pt x="0" y="6469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3549443" y="7434189"/>
            <a:ext cx="762615" cy="38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b="true" sz="2249" spc="2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6212322" y="9411950"/>
            <a:ext cx="749794" cy="749794"/>
          </a:xfrm>
          <a:custGeom>
            <a:avLst/>
            <a:gdLst/>
            <a:ahLst/>
            <a:cxnLst/>
            <a:rect r="r" b="b" t="t" l="l"/>
            <a:pathLst>
              <a:path h="749794" w="749794">
                <a:moveTo>
                  <a:pt x="0" y="0"/>
                </a:moveTo>
                <a:lnTo>
                  <a:pt x="749794" y="0"/>
                </a:lnTo>
                <a:lnTo>
                  <a:pt x="749794" y="749795"/>
                </a:lnTo>
                <a:lnTo>
                  <a:pt x="0" y="7497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5471690" y="7388267"/>
            <a:ext cx="2190701" cy="2190701"/>
          </a:xfrm>
          <a:custGeom>
            <a:avLst/>
            <a:gdLst/>
            <a:ahLst/>
            <a:cxnLst/>
            <a:rect r="r" b="b" t="t" l="l"/>
            <a:pathLst>
              <a:path h="2190701" w="2190701">
                <a:moveTo>
                  <a:pt x="0" y="0"/>
                </a:moveTo>
                <a:lnTo>
                  <a:pt x="2190701" y="0"/>
                </a:lnTo>
                <a:lnTo>
                  <a:pt x="2190701" y="2190701"/>
                </a:lnTo>
                <a:lnTo>
                  <a:pt x="0" y="21907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6257346" y="9463385"/>
            <a:ext cx="646926" cy="646926"/>
          </a:xfrm>
          <a:custGeom>
            <a:avLst/>
            <a:gdLst/>
            <a:ahLst/>
            <a:cxnLst/>
            <a:rect r="r" b="b" t="t" l="l"/>
            <a:pathLst>
              <a:path h="646926" w="646926">
                <a:moveTo>
                  <a:pt x="0" y="0"/>
                </a:moveTo>
                <a:lnTo>
                  <a:pt x="646925" y="0"/>
                </a:lnTo>
                <a:lnTo>
                  <a:pt x="646925" y="646925"/>
                </a:lnTo>
                <a:lnTo>
                  <a:pt x="0" y="6469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8" id="48"/>
          <p:cNvSpPr/>
          <p:nvPr/>
        </p:nvSpPr>
        <p:spPr>
          <a:xfrm flipH="true">
            <a:off x="4312058" y="7655599"/>
            <a:ext cx="939083" cy="0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 flipH="true">
            <a:off x="2616771" y="7655599"/>
            <a:ext cx="939083" cy="0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flipH="true">
            <a:off x="5241144" y="4653262"/>
            <a:ext cx="944589" cy="0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 flipH="true">
            <a:off x="6948348" y="4653262"/>
            <a:ext cx="944589" cy="0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flipH="true">
            <a:off x="4312058" y="6760051"/>
            <a:ext cx="939083" cy="0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 flipV="true">
            <a:off x="5246142" y="4648263"/>
            <a:ext cx="0" cy="2116787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 flipH="true">
            <a:off x="1672182" y="4653262"/>
            <a:ext cx="944589" cy="0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 flipH="true">
            <a:off x="2616771" y="6760051"/>
            <a:ext cx="939083" cy="0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 flipV="true">
            <a:off x="2611772" y="4648263"/>
            <a:ext cx="0" cy="2116787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57" id="57"/>
          <p:cNvSpPr/>
          <p:nvPr/>
        </p:nvSpPr>
        <p:spPr>
          <a:xfrm flipH="false" flipV="false" rot="-10800000">
            <a:off x="6185733" y="4233026"/>
            <a:ext cx="762615" cy="762615"/>
          </a:xfrm>
          <a:custGeom>
            <a:avLst/>
            <a:gdLst/>
            <a:ahLst/>
            <a:cxnLst/>
            <a:rect r="r" b="b" t="t" l="l"/>
            <a:pathLst>
              <a:path h="762615" w="762615">
                <a:moveTo>
                  <a:pt x="0" y="0"/>
                </a:moveTo>
                <a:lnTo>
                  <a:pt x="762615" y="0"/>
                </a:lnTo>
                <a:lnTo>
                  <a:pt x="762615" y="762615"/>
                </a:lnTo>
                <a:lnTo>
                  <a:pt x="0" y="7626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-10800000">
            <a:off x="5471690" y="4836683"/>
            <a:ext cx="2190701" cy="2190701"/>
          </a:xfrm>
          <a:custGeom>
            <a:avLst/>
            <a:gdLst/>
            <a:ahLst/>
            <a:cxnLst/>
            <a:rect r="r" b="b" t="t" l="l"/>
            <a:pathLst>
              <a:path h="2190701" w="2190701">
                <a:moveTo>
                  <a:pt x="0" y="0"/>
                </a:moveTo>
                <a:lnTo>
                  <a:pt x="2190701" y="0"/>
                </a:lnTo>
                <a:lnTo>
                  <a:pt x="2190701" y="2190701"/>
                </a:lnTo>
                <a:lnTo>
                  <a:pt x="0" y="21907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-10800000">
            <a:off x="6243577" y="4290870"/>
            <a:ext cx="646926" cy="646926"/>
          </a:xfrm>
          <a:custGeom>
            <a:avLst/>
            <a:gdLst/>
            <a:ahLst/>
            <a:cxnLst/>
            <a:rect r="r" b="b" t="t" l="l"/>
            <a:pathLst>
              <a:path h="646926" w="646926">
                <a:moveTo>
                  <a:pt x="0" y="0"/>
                </a:moveTo>
                <a:lnTo>
                  <a:pt x="646926" y="0"/>
                </a:lnTo>
                <a:lnTo>
                  <a:pt x="646926" y="646926"/>
                </a:lnTo>
                <a:lnTo>
                  <a:pt x="0" y="6469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-10800000">
            <a:off x="3498009" y="6400583"/>
            <a:ext cx="749794" cy="749794"/>
          </a:xfrm>
          <a:custGeom>
            <a:avLst/>
            <a:gdLst/>
            <a:ahLst/>
            <a:cxnLst/>
            <a:rect r="r" b="b" t="t" l="l"/>
            <a:pathLst>
              <a:path h="749794" w="749794">
                <a:moveTo>
                  <a:pt x="0" y="0"/>
                </a:moveTo>
                <a:lnTo>
                  <a:pt x="749794" y="0"/>
                </a:lnTo>
                <a:lnTo>
                  <a:pt x="749794" y="749794"/>
                </a:lnTo>
                <a:lnTo>
                  <a:pt x="0" y="749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-10800000">
            <a:off x="2835400" y="4352271"/>
            <a:ext cx="2190701" cy="2190701"/>
          </a:xfrm>
          <a:custGeom>
            <a:avLst/>
            <a:gdLst/>
            <a:ahLst/>
            <a:cxnLst/>
            <a:rect r="r" b="b" t="t" l="l"/>
            <a:pathLst>
              <a:path h="2190701" w="2190701">
                <a:moveTo>
                  <a:pt x="0" y="0"/>
                </a:moveTo>
                <a:lnTo>
                  <a:pt x="2190701" y="0"/>
                </a:lnTo>
                <a:lnTo>
                  <a:pt x="2190701" y="2190701"/>
                </a:lnTo>
                <a:lnTo>
                  <a:pt x="0" y="21907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-10800000">
            <a:off x="3549443" y="6452017"/>
            <a:ext cx="646926" cy="646926"/>
          </a:xfrm>
          <a:custGeom>
            <a:avLst/>
            <a:gdLst/>
            <a:ahLst/>
            <a:cxnLst/>
            <a:rect r="r" b="b" t="t" l="l"/>
            <a:pathLst>
              <a:path h="646926" w="646926">
                <a:moveTo>
                  <a:pt x="0" y="0"/>
                </a:moveTo>
                <a:lnTo>
                  <a:pt x="646926" y="0"/>
                </a:lnTo>
                <a:lnTo>
                  <a:pt x="646926" y="646926"/>
                </a:lnTo>
                <a:lnTo>
                  <a:pt x="0" y="6469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-10800000">
            <a:off x="919564" y="4352271"/>
            <a:ext cx="749794" cy="749794"/>
          </a:xfrm>
          <a:custGeom>
            <a:avLst/>
            <a:gdLst/>
            <a:ahLst/>
            <a:cxnLst/>
            <a:rect r="r" b="b" t="t" l="l"/>
            <a:pathLst>
              <a:path h="749794" w="749794">
                <a:moveTo>
                  <a:pt x="0" y="0"/>
                </a:moveTo>
                <a:lnTo>
                  <a:pt x="749794" y="0"/>
                </a:lnTo>
                <a:lnTo>
                  <a:pt x="749794" y="749794"/>
                </a:lnTo>
                <a:lnTo>
                  <a:pt x="0" y="749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-10800000">
            <a:off x="199111" y="4836683"/>
            <a:ext cx="2190701" cy="2190701"/>
          </a:xfrm>
          <a:custGeom>
            <a:avLst/>
            <a:gdLst/>
            <a:ahLst/>
            <a:cxnLst/>
            <a:rect r="r" b="b" t="t" l="l"/>
            <a:pathLst>
              <a:path h="2190701" w="2190701">
                <a:moveTo>
                  <a:pt x="0" y="0"/>
                </a:moveTo>
                <a:lnTo>
                  <a:pt x="2190701" y="0"/>
                </a:lnTo>
                <a:lnTo>
                  <a:pt x="2190701" y="2190701"/>
                </a:lnTo>
                <a:lnTo>
                  <a:pt x="0" y="21907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-10800000">
            <a:off x="970999" y="4397295"/>
            <a:ext cx="646926" cy="646926"/>
          </a:xfrm>
          <a:custGeom>
            <a:avLst/>
            <a:gdLst/>
            <a:ahLst/>
            <a:cxnLst/>
            <a:rect r="r" b="b" t="t" l="l"/>
            <a:pathLst>
              <a:path h="646926" w="646926">
                <a:moveTo>
                  <a:pt x="0" y="0"/>
                </a:moveTo>
                <a:lnTo>
                  <a:pt x="646925" y="0"/>
                </a:lnTo>
                <a:lnTo>
                  <a:pt x="646925" y="646925"/>
                </a:lnTo>
                <a:lnTo>
                  <a:pt x="0" y="6469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6" id="66"/>
          <p:cNvSpPr txBox="true"/>
          <p:nvPr/>
        </p:nvSpPr>
        <p:spPr>
          <a:xfrm rot="0">
            <a:off x="913154" y="9458899"/>
            <a:ext cx="762615" cy="38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b="true" sz="2249" spc="2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06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95082" y="7536074"/>
            <a:ext cx="2031752" cy="51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</a:pPr>
            <a:r>
              <a:rPr lang="en-US" b="true" sz="1449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MULTI-VECTOR IN-MEMORY EXECUTI</a:t>
            </a:r>
            <a:r>
              <a:rPr lang="en-US" b="true" sz="1449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99111" y="8161411"/>
            <a:ext cx="2163836" cy="1180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1472" indent="-145736" lvl="1">
              <a:lnSpc>
                <a:spcPts val="1890"/>
              </a:lnSpc>
              <a:spcBef>
                <a:spcPct val="0"/>
              </a:spcBef>
              <a:buFont typeface="Arial"/>
              <a:buChar char="•"/>
            </a:pPr>
            <a:r>
              <a:rPr lang="en-US" sz="135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Process hollowing &amp; thread hijacking</a:t>
            </a:r>
          </a:p>
          <a:p>
            <a:pPr algn="l" marL="291472" indent="-145736" lvl="1">
              <a:lnSpc>
                <a:spcPts val="1890"/>
              </a:lnSpc>
              <a:spcBef>
                <a:spcPct val="0"/>
              </a:spcBef>
              <a:buFont typeface="Arial"/>
              <a:buChar char="•"/>
            </a:pPr>
            <a:r>
              <a:rPr lang="en-US" sz="135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Reflective DLL injection</a:t>
            </a:r>
          </a:p>
          <a:p>
            <a:pPr algn="l" marL="291472" indent="-145736" lvl="1">
              <a:lnSpc>
                <a:spcPts val="1890"/>
              </a:lnSpc>
              <a:spcBef>
                <a:spcPct val="0"/>
              </a:spcBef>
              <a:buFont typeface="Arial"/>
              <a:buChar char="•"/>
            </a:pPr>
            <a:r>
              <a:rPr lang="en-US" sz="135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API unhooking &amp; direct syscalls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5483092" y="7492441"/>
            <a:ext cx="2195433" cy="51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0"/>
              </a:lnSpc>
            </a:pPr>
            <a:r>
              <a:rPr lang="en-US" b="true" sz="1450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CENTRAL MANAGEMENT INTERFACE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5483092" y="8034872"/>
            <a:ext cx="2161805" cy="134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5966" indent="-137983" lvl="1">
              <a:lnSpc>
                <a:spcPts val="1789"/>
              </a:lnSpc>
              <a:spcBef>
                <a:spcPct val="0"/>
              </a:spcBef>
              <a:buFont typeface="Arial"/>
              <a:buChar char="•"/>
            </a:pPr>
            <a:r>
              <a:rPr lang="en-US" sz="1278" spc="1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ul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ti-system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si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mul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ta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neou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 an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aly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</a:t>
            </a:r>
          </a:p>
          <a:p>
            <a:pPr algn="l" marL="275966" indent="-137983" lvl="1">
              <a:lnSpc>
                <a:spcPts val="1789"/>
              </a:lnSpc>
              <a:spcBef>
                <a:spcPct val="0"/>
              </a:spcBef>
              <a:buFont typeface="Arial"/>
              <a:buChar char="•"/>
            </a:pP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cure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C2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&amp;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aggr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ga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ion</a:t>
            </a:r>
          </a:p>
          <a:p>
            <a:pPr algn="l" marL="275966" indent="-137983" lvl="1">
              <a:lnSpc>
                <a:spcPts val="1789"/>
              </a:lnSpc>
              <a:spcBef>
                <a:spcPct val="0"/>
              </a:spcBef>
              <a:buFont typeface="Arial"/>
              <a:buChar char="•"/>
            </a:pP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main f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ing 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&amp; CDN tra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fic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out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ing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867772" y="8054424"/>
            <a:ext cx="2158330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</a:pPr>
            <a:r>
              <a:rPr lang="en-US" b="true" sz="1449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BRING YOUR OWN VULNER</a:t>
            </a:r>
            <a:r>
              <a:rPr lang="en-US" b="true" sz="1449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ABLE DRIVER</a:t>
            </a:r>
          </a:p>
          <a:p>
            <a:pPr algn="ctr">
              <a:lnSpc>
                <a:spcPts val="2029"/>
              </a:lnSpc>
            </a:pPr>
          </a:p>
        </p:txBody>
      </p:sp>
      <p:sp>
        <p:nvSpPr>
          <p:cNvPr name="TextBox 72" id="72"/>
          <p:cNvSpPr txBox="true"/>
          <p:nvPr/>
        </p:nvSpPr>
        <p:spPr>
          <a:xfrm rot="0">
            <a:off x="2839433" y="8640653"/>
            <a:ext cx="2176698" cy="120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5926" indent="-147963" lvl="1">
              <a:lnSpc>
                <a:spcPts val="1918"/>
              </a:lnSpc>
              <a:spcBef>
                <a:spcPct val="0"/>
              </a:spcBef>
              <a:buFont typeface="Arial"/>
              <a:buChar char="•"/>
            </a:pPr>
            <a:r>
              <a:rPr lang="en-US" sz="1370" spc="13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er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ne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-l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s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ubv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sion 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&amp;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m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ipula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tio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</a:t>
            </a:r>
          </a:p>
          <a:p>
            <a:pPr algn="l" marL="295926" indent="-147963" lvl="1">
              <a:lnSpc>
                <a:spcPts val="1918"/>
              </a:lnSpc>
              <a:spcBef>
                <a:spcPct val="0"/>
              </a:spcBef>
              <a:buFont typeface="Arial"/>
              <a:buChar char="•"/>
            </a:pP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EDR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lbac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 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disabling</a:t>
            </a:r>
          </a:p>
          <a:p>
            <a:pPr algn="l" marL="295926" indent="-147963" lvl="1">
              <a:lnSpc>
                <a:spcPts val="1918"/>
              </a:lnSpc>
              <a:spcBef>
                <a:spcPct val="0"/>
              </a:spcBef>
              <a:buFont typeface="Arial"/>
              <a:buChar char="•"/>
            </a:pP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Blind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 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r/k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ern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s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ecu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ri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ty age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6199501" y="9570084"/>
            <a:ext cx="762615" cy="38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b="true" sz="2249" spc="2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13154" y="4516815"/>
            <a:ext cx="762615" cy="38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b="true" sz="2249" spc="2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29504" y="5146503"/>
            <a:ext cx="1696747" cy="515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0"/>
              </a:lnSpc>
            </a:pPr>
            <a:r>
              <a:rPr lang="en-US" b="true" sz="1450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CUSTOM LLVM-BASED LANGUAGE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216257" y="5680817"/>
            <a:ext cx="2173555" cy="140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1792" indent="-125896" lvl="1">
              <a:lnSpc>
                <a:spcPts val="1632"/>
              </a:lnSpc>
              <a:buFont typeface="Arial"/>
              <a:buChar char="•"/>
            </a:pPr>
            <a:r>
              <a:rPr lang="en-US" sz="1166" spc="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Independent intermediate representation (IR)</a:t>
            </a:r>
          </a:p>
          <a:p>
            <a:pPr algn="l" marL="251792" indent="-125896" lvl="1">
              <a:lnSpc>
                <a:spcPts val="1632"/>
              </a:lnSpc>
              <a:buFont typeface="Arial"/>
              <a:buChar char="•"/>
            </a:pPr>
            <a:r>
              <a:rPr lang="en-US" sz="1166" spc="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</a:t>
            </a:r>
            <a:r>
              <a:rPr lang="en-US" sz="1166" spc="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tered CFGs &amp; token generation</a:t>
            </a:r>
          </a:p>
          <a:p>
            <a:pPr algn="l" marL="251792" indent="-125896" lvl="1">
              <a:lnSpc>
                <a:spcPts val="1632"/>
              </a:lnSpc>
              <a:buFont typeface="Arial"/>
              <a:buChar char="•"/>
            </a:pPr>
            <a:r>
              <a:rPr lang="en-US" sz="1166" spc="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Signature-evading binary structures</a:t>
            </a:r>
          </a:p>
          <a:p>
            <a:pPr algn="l">
              <a:lnSpc>
                <a:spcPts val="1632"/>
              </a:lnSpc>
            </a:pPr>
          </a:p>
        </p:txBody>
      </p:sp>
      <p:sp>
        <p:nvSpPr>
          <p:cNvPr name="TextBox 77" id="77"/>
          <p:cNvSpPr txBox="true"/>
          <p:nvPr/>
        </p:nvSpPr>
        <p:spPr>
          <a:xfrm rot="0">
            <a:off x="3491599" y="6576023"/>
            <a:ext cx="762615" cy="38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b="true" sz="2249" spc="2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835846" y="4427064"/>
            <a:ext cx="2181806" cy="515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4"/>
              </a:lnSpc>
            </a:pPr>
            <a:r>
              <a:rPr lang="en-US" b="true" sz="1453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CONTINUOUS POLYMORPHIC ENGINE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2839433" y="5051060"/>
            <a:ext cx="2154297" cy="1282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7669" indent="-133835" lvl="1">
              <a:lnSpc>
                <a:spcPts val="1735"/>
              </a:lnSpc>
              <a:spcBef>
                <a:spcPct val="0"/>
              </a:spcBef>
              <a:buFont typeface="Arial"/>
              <a:buChar char="•"/>
            </a:pPr>
            <a:r>
              <a:rPr lang="en-US" sz="1239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Automated CI/CD integration</a:t>
            </a:r>
          </a:p>
          <a:p>
            <a:pPr algn="l" marL="267669" indent="-133835" lvl="1">
              <a:lnSpc>
                <a:spcPts val="1735"/>
              </a:lnSpc>
              <a:spcBef>
                <a:spcPct val="0"/>
              </a:spcBef>
              <a:buFont typeface="Arial"/>
              <a:buChar char="•"/>
            </a:pPr>
            <a:r>
              <a:rPr lang="en-US" sz="1239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Unique hashes per compilation</a:t>
            </a:r>
          </a:p>
          <a:p>
            <a:pPr algn="l" marL="267669" indent="-133835" lvl="1">
              <a:lnSpc>
                <a:spcPts val="1735"/>
              </a:lnSpc>
              <a:spcBef>
                <a:spcPct val="0"/>
              </a:spcBef>
              <a:buFont typeface="Arial"/>
              <a:buChar char="•"/>
            </a:pPr>
            <a:r>
              <a:rPr lang="en-US" sz="1239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Dynamic entries &amp; import tables</a:t>
            </a:r>
          </a:p>
          <a:p>
            <a:pPr algn="l" marL="267669" indent="-133835" lvl="1">
              <a:lnSpc>
                <a:spcPts val="1735"/>
              </a:lnSpc>
              <a:spcBef>
                <a:spcPct val="0"/>
              </a:spcBef>
              <a:buFont typeface="Arial"/>
              <a:buChar char="•"/>
            </a:pPr>
            <a:r>
              <a:rPr lang="en-US" sz="1239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Variable per-build encryption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6185733" y="4384749"/>
            <a:ext cx="762615" cy="38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b="true" sz="2249" spc="2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5450540" y="5006120"/>
            <a:ext cx="2194357" cy="51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</a:pPr>
            <a:r>
              <a:rPr lang="en-US" b="true" sz="1449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LIVI</a:t>
            </a:r>
            <a:r>
              <a:rPr lang="en-US" b="true" sz="1449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NG-OFF-THE-LAND (LOTL) EXECUTION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5483092" y="5542444"/>
            <a:ext cx="2208308" cy="1457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6087" indent="-128044" lvl="1">
              <a:lnSpc>
                <a:spcPts val="1660"/>
              </a:lnSpc>
              <a:spcBef>
                <a:spcPct val="0"/>
              </a:spcBef>
              <a:buFont typeface="Arial"/>
              <a:buChar char="•"/>
            </a:pPr>
            <a:r>
              <a:rPr lang="en-US" sz="1186" spc="11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Zero standard API calls</a:t>
            </a:r>
          </a:p>
          <a:p>
            <a:pPr algn="l" marL="256087" indent="-128044" lvl="1">
              <a:lnSpc>
                <a:spcPts val="1660"/>
              </a:lnSpc>
              <a:spcBef>
                <a:spcPct val="0"/>
              </a:spcBef>
              <a:buFont typeface="Arial"/>
              <a:buChar char="•"/>
            </a:pPr>
            <a:r>
              <a:rPr lang="en-US" sz="1186" spc="11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Native OS component utilization</a:t>
            </a:r>
          </a:p>
          <a:p>
            <a:pPr algn="l" marL="256087" indent="-128044" lvl="1">
              <a:lnSpc>
                <a:spcPts val="1660"/>
              </a:lnSpc>
              <a:spcBef>
                <a:spcPct val="0"/>
              </a:spcBef>
              <a:buFont typeface="Arial"/>
              <a:buChar char="•"/>
            </a:pPr>
            <a:r>
              <a:rPr lang="en-US" sz="1186" spc="11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Legitimate system tool persistence</a:t>
            </a:r>
          </a:p>
          <a:p>
            <a:pPr algn="l" marL="256087" indent="-128044" lvl="1">
              <a:lnSpc>
                <a:spcPts val="1660"/>
              </a:lnSpc>
              <a:spcBef>
                <a:spcPct val="0"/>
              </a:spcBef>
              <a:buFont typeface="Arial"/>
              <a:buChar char="•"/>
            </a:pPr>
            <a:r>
              <a:rPr lang="en-US" sz="1186" spc="11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Trusted process SOCKS5 routing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15561125" y="53875"/>
            <a:ext cx="2470729" cy="1166631"/>
            <a:chOff x="0" y="0"/>
            <a:chExt cx="4499699" cy="212467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1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0526429" y="2095674"/>
            <a:ext cx="5798386" cy="1207694"/>
            <a:chOff x="0" y="0"/>
            <a:chExt cx="2728526" cy="5683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728526" cy="568300"/>
            </a:xfrm>
            <a:custGeom>
              <a:avLst/>
              <a:gdLst/>
              <a:ahLst/>
              <a:cxnLst/>
              <a:rect r="r" b="b" t="t" l="l"/>
              <a:pathLst>
                <a:path h="568300" w="2728526">
                  <a:moveTo>
                    <a:pt x="26704" y="0"/>
                  </a:moveTo>
                  <a:lnTo>
                    <a:pt x="2701822" y="0"/>
                  </a:lnTo>
                  <a:cubicBezTo>
                    <a:pt x="2708904" y="0"/>
                    <a:pt x="2715696" y="2813"/>
                    <a:pt x="2720704" y="7821"/>
                  </a:cubicBezTo>
                  <a:cubicBezTo>
                    <a:pt x="2725712" y="12829"/>
                    <a:pt x="2728526" y="19621"/>
                    <a:pt x="2728526" y="26704"/>
                  </a:cubicBezTo>
                  <a:lnTo>
                    <a:pt x="2728526" y="541596"/>
                  </a:lnTo>
                  <a:cubicBezTo>
                    <a:pt x="2728526" y="556344"/>
                    <a:pt x="2716570" y="568300"/>
                    <a:pt x="2701822" y="568300"/>
                  </a:cubicBezTo>
                  <a:lnTo>
                    <a:pt x="26704" y="568300"/>
                  </a:lnTo>
                  <a:cubicBezTo>
                    <a:pt x="11956" y="568300"/>
                    <a:pt x="0" y="556344"/>
                    <a:pt x="0" y="541596"/>
                  </a:cubicBezTo>
                  <a:lnTo>
                    <a:pt x="0" y="26704"/>
                  </a:lnTo>
                  <a:cubicBezTo>
                    <a:pt x="0" y="11956"/>
                    <a:pt x="11956" y="0"/>
                    <a:pt x="2670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2728526" cy="5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533660" y="2103033"/>
            <a:ext cx="5610749" cy="386714"/>
            <a:chOff x="0" y="0"/>
            <a:chExt cx="2640230" cy="18197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640230" cy="181975"/>
            </a:xfrm>
            <a:custGeom>
              <a:avLst/>
              <a:gdLst/>
              <a:ahLst/>
              <a:cxnLst/>
              <a:rect r="r" b="b" t="t" l="l"/>
              <a:pathLst>
                <a:path h="181975" w="2640230">
                  <a:moveTo>
                    <a:pt x="30356" y="0"/>
                  </a:moveTo>
                  <a:lnTo>
                    <a:pt x="2609873" y="0"/>
                  </a:lnTo>
                  <a:cubicBezTo>
                    <a:pt x="2617925" y="0"/>
                    <a:pt x="2625646" y="3198"/>
                    <a:pt x="2631339" y="8891"/>
                  </a:cubicBezTo>
                  <a:cubicBezTo>
                    <a:pt x="2637032" y="14584"/>
                    <a:pt x="2640230" y="22305"/>
                    <a:pt x="2640230" y="30356"/>
                  </a:cubicBezTo>
                  <a:lnTo>
                    <a:pt x="2640230" y="151618"/>
                  </a:lnTo>
                  <a:cubicBezTo>
                    <a:pt x="2640230" y="159669"/>
                    <a:pt x="2637032" y="167391"/>
                    <a:pt x="2631339" y="173084"/>
                  </a:cubicBezTo>
                  <a:cubicBezTo>
                    <a:pt x="2625646" y="178777"/>
                    <a:pt x="2617925" y="181975"/>
                    <a:pt x="2609873" y="181975"/>
                  </a:cubicBezTo>
                  <a:lnTo>
                    <a:pt x="30356" y="181975"/>
                  </a:lnTo>
                  <a:cubicBezTo>
                    <a:pt x="22305" y="181975"/>
                    <a:pt x="14584" y="178777"/>
                    <a:pt x="8891" y="173084"/>
                  </a:cubicBezTo>
                  <a:cubicBezTo>
                    <a:pt x="3198" y="167391"/>
                    <a:pt x="0" y="159669"/>
                    <a:pt x="0" y="151618"/>
                  </a:cubicBezTo>
                  <a:lnTo>
                    <a:pt x="0" y="30356"/>
                  </a:lnTo>
                  <a:cubicBezTo>
                    <a:pt x="0" y="22305"/>
                    <a:pt x="3198" y="14584"/>
                    <a:pt x="8891" y="8891"/>
                  </a:cubicBezTo>
                  <a:cubicBezTo>
                    <a:pt x="14584" y="3198"/>
                    <a:pt x="22305" y="0"/>
                    <a:pt x="30356" y="0"/>
                  </a:cubicBezTo>
                  <a:close/>
                </a:path>
              </a:pathLst>
            </a:custGeom>
            <a:solidFill>
              <a:srgbClr val="FAB0AC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2640230" cy="21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5992500" y="2103033"/>
            <a:ext cx="151909" cy="122976"/>
            <a:chOff x="0" y="0"/>
            <a:chExt cx="71483" cy="5786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1483" cy="57868"/>
            </a:xfrm>
            <a:custGeom>
              <a:avLst/>
              <a:gdLst/>
              <a:ahLst/>
              <a:cxnLst/>
              <a:rect r="r" b="b" t="t" l="l"/>
              <a:pathLst>
                <a:path h="57868" w="71483">
                  <a:moveTo>
                    <a:pt x="0" y="0"/>
                  </a:moveTo>
                  <a:lnTo>
                    <a:pt x="71483" y="0"/>
                  </a:lnTo>
                  <a:lnTo>
                    <a:pt x="71483" y="57868"/>
                  </a:lnTo>
                  <a:lnTo>
                    <a:pt x="0" y="57868"/>
                  </a:lnTo>
                  <a:close/>
                </a:path>
              </a:pathLst>
            </a:custGeom>
            <a:solidFill>
              <a:srgbClr val="FAB0AC"/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71483" cy="86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0533660" y="2375768"/>
            <a:ext cx="151909" cy="113979"/>
            <a:chOff x="0" y="0"/>
            <a:chExt cx="71483" cy="53635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1483" cy="53635"/>
            </a:xfrm>
            <a:custGeom>
              <a:avLst/>
              <a:gdLst/>
              <a:ahLst/>
              <a:cxnLst/>
              <a:rect r="r" b="b" t="t" l="l"/>
              <a:pathLst>
                <a:path h="53635" w="71483">
                  <a:moveTo>
                    <a:pt x="0" y="0"/>
                  </a:moveTo>
                  <a:lnTo>
                    <a:pt x="71483" y="0"/>
                  </a:lnTo>
                  <a:lnTo>
                    <a:pt x="71483" y="53635"/>
                  </a:lnTo>
                  <a:lnTo>
                    <a:pt x="0" y="53635"/>
                  </a:lnTo>
                  <a:close/>
                </a:path>
              </a:pathLst>
            </a:custGeom>
            <a:solidFill>
              <a:srgbClr val="FAB0AC"/>
            </a:solid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28575"/>
              <a:ext cx="71483" cy="82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0526429" y="2095674"/>
            <a:ext cx="5798386" cy="1207694"/>
            <a:chOff x="0" y="0"/>
            <a:chExt cx="2728526" cy="5683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728526" cy="568300"/>
            </a:xfrm>
            <a:custGeom>
              <a:avLst/>
              <a:gdLst/>
              <a:ahLst/>
              <a:cxnLst/>
              <a:rect r="r" b="b" t="t" l="l"/>
              <a:pathLst>
                <a:path h="568300" w="2728526">
                  <a:moveTo>
                    <a:pt x="26704" y="0"/>
                  </a:moveTo>
                  <a:lnTo>
                    <a:pt x="2701822" y="0"/>
                  </a:lnTo>
                  <a:cubicBezTo>
                    <a:pt x="2708904" y="0"/>
                    <a:pt x="2715696" y="2813"/>
                    <a:pt x="2720704" y="7821"/>
                  </a:cubicBezTo>
                  <a:cubicBezTo>
                    <a:pt x="2725712" y="12829"/>
                    <a:pt x="2728526" y="19621"/>
                    <a:pt x="2728526" y="26704"/>
                  </a:cubicBezTo>
                  <a:lnTo>
                    <a:pt x="2728526" y="541596"/>
                  </a:lnTo>
                  <a:cubicBezTo>
                    <a:pt x="2728526" y="556344"/>
                    <a:pt x="2716570" y="568300"/>
                    <a:pt x="2701822" y="568300"/>
                  </a:cubicBezTo>
                  <a:lnTo>
                    <a:pt x="26704" y="568300"/>
                  </a:lnTo>
                  <a:cubicBezTo>
                    <a:pt x="11956" y="568300"/>
                    <a:pt x="0" y="556344"/>
                    <a:pt x="0" y="541596"/>
                  </a:cubicBezTo>
                  <a:lnTo>
                    <a:pt x="0" y="26704"/>
                  </a:lnTo>
                  <a:cubicBezTo>
                    <a:pt x="0" y="11956"/>
                    <a:pt x="11956" y="0"/>
                    <a:pt x="26704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2728526" cy="5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0" id="100"/>
          <p:cNvSpPr/>
          <p:nvPr/>
        </p:nvSpPr>
        <p:spPr>
          <a:xfrm>
            <a:off x="10526429" y="2103033"/>
            <a:ext cx="5617981" cy="386714"/>
          </a:xfrm>
          <a:custGeom>
            <a:avLst/>
            <a:gdLst/>
            <a:ahLst/>
            <a:cxnLst/>
            <a:rect r="r" b="b" t="t" l="l"/>
            <a:pathLst>
              <a:path h="386714" w="5617981">
                <a:moveTo>
                  <a:pt x="0" y="386714"/>
                </a:moveTo>
                <a:lnTo>
                  <a:pt x="5475106" y="386714"/>
                </a:lnTo>
                <a:cubicBezTo>
                  <a:pt x="5512998" y="386714"/>
                  <a:pt x="5549340" y="371661"/>
                  <a:pt x="5576134" y="344867"/>
                </a:cubicBezTo>
                <a:cubicBezTo>
                  <a:pt x="5602928" y="318073"/>
                  <a:pt x="5617981" y="281732"/>
                  <a:pt x="5617981" y="243839"/>
                </a:cubicBezTo>
                <a:lnTo>
                  <a:pt x="5617981" y="0"/>
                </a:lnTo>
              </a:path>
            </a:pathLst>
          </a:cu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1" id="101"/>
          <p:cNvSpPr txBox="true"/>
          <p:nvPr/>
        </p:nvSpPr>
        <p:spPr>
          <a:xfrm rot="0">
            <a:off x="9599935" y="1165305"/>
            <a:ext cx="7536063" cy="55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WHAT MAKES JOCKY UNIQUE?</a:t>
            </a:r>
          </a:p>
        </p:txBody>
      </p:sp>
      <p:grpSp>
        <p:nvGrpSpPr>
          <p:cNvPr name="Group 102" id="102"/>
          <p:cNvGrpSpPr/>
          <p:nvPr/>
        </p:nvGrpSpPr>
        <p:grpSpPr>
          <a:xfrm rot="0">
            <a:off x="11169174" y="3610944"/>
            <a:ext cx="5798386" cy="1207694"/>
            <a:chOff x="0" y="0"/>
            <a:chExt cx="2728526" cy="5683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728526" cy="568300"/>
            </a:xfrm>
            <a:custGeom>
              <a:avLst/>
              <a:gdLst/>
              <a:ahLst/>
              <a:cxnLst/>
              <a:rect r="r" b="b" t="t" l="l"/>
              <a:pathLst>
                <a:path h="568300" w="2728526">
                  <a:moveTo>
                    <a:pt x="26704" y="0"/>
                  </a:moveTo>
                  <a:lnTo>
                    <a:pt x="2701822" y="0"/>
                  </a:lnTo>
                  <a:cubicBezTo>
                    <a:pt x="2708904" y="0"/>
                    <a:pt x="2715696" y="2813"/>
                    <a:pt x="2720704" y="7821"/>
                  </a:cubicBezTo>
                  <a:cubicBezTo>
                    <a:pt x="2725712" y="12829"/>
                    <a:pt x="2728526" y="19621"/>
                    <a:pt x="2728526" y="26704"/>
                  </a:cubicBezTo>
                  <a:lnTo>
                    <a:pt x="2728526" y="541596"/>
                  </a:lnTo>
                  <a:cubicBezTo>
                    <a:pt x="2728526" y="556344"/>
                    <a:pt x="2716570" y="568300"/>
                    <a:pt x="2701822" y="568300"/>
                  </a:cubicBezTo>
                  <a:lnTo>
                    <a:pt x="26704" y="568300"/>
                  </a:lnTo>
                  <a:cubicBezTo>
                    <a:pt x="11956" y="568300"/>
                    <a:pt x="0" y="556344"/>
                    <a:pt x="0" y="541596"/>
                  </a:cubicBezTo>
                  <a:lnTo>
                    <a:pt x="0" y="26704"/>
                  </a:lnTo>
                  <a:cubicBezTo>
                    <a:pt x="0" y="11956"/>
                    <a:pt x="11956" y="0"/>
                    <a:pt x="2670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4" id="104"/>
            <p:cNvSpPr txBox="true"/>
            <p:nvPr/>
          </p:nvSpPr>
          <p:spPr>
            <a:xfrm>
              <a:off x="0" y="-28575"/>
              <a:ext cx="2728526" cy="5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1176406" y="3618303"/>
            <a:ext cx="5610749" cy="386714"/>
            <a:chOff x="0" y="0"/>
            <a:chExt cx="2640230" cy="181975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640230" cy="181975"/>
            </a:xfrm>
            <a:custGeom>
              <a:avLst/>
              <a:gdLst/>
              <a:ahLst/>
              <a:cxnLst/>
              <a:rect r="r" b="b" t="t" l="l"/>
              <a:pathLst>
                <a:path h="181975" w="2640230">
                  <a:moveTo>
                    <a:pt x="30356" y="0"/>
                  </a:moveTo>
                  <a:lnTo>
                    <a:pt x="2609873" y="0"/>
                  </a:lnTo>
                  <a:cubicBezTo>
                    <a:pt x="2617925" y="0"/>
                    <a:pt x="2625646" y="3198"/>
                    <a:pt x="2631339" y="8891"/>
                  </a:cubicBezTo>
                  <a:cubicBezTo>
                    <a:pt x="2637032" y="14584"/>
                    <a:pt x="2640230" y="22305"/>
                    <a:pt x="2640230" y="30356"/>
                  </a:cubicBezTo>
                  <a:lnTo>
                    <a:pt x="2640230" y="151618"/>
                  </a:lnTo>
                  <a:cubicBezTo>
                    <a:pt x="2640230" y="159669"/>
                    <a:pt x="2637032" y="167391"/>
                    <a:pt x="2631339" y="173084"/>
                  </a:cubicBezTo>
                  <a:cubicBezTo>
                    <a:pt x="2625646" y="178777"/>
                    <a:pt x="2617925" y="181975"/>
                    <a:pt x="2609873" y="181975"/>
                  </a:cubicBezTo>
                  <a:lnTo>
                    <a:pt x="30356" y="181975"/>
                  </a:lnTo>
                  <a:cubicBezTo>
                    <a:pt x="22305" y="181975"/>
                    <a:pt x="14584" y="178777"/>
                    <a:pt x="8891" y="173084"/>
                  </a:cubicBezTo>
                  <a:cubicBezTo>
                    <a:pt x="3198" y="167391"/>
                    <a:pt x="0" y="159669"/>
                    <a:pt x="0" y="151618"/>
                  </a:cubicBezTo>
                  <a:lnTo>
                    <a:pt x="0" y="30356"/>
                  </a:lnTo>
                  <a:cubicBezTo>
                    <a:pt x="0" y="22305"/>
                    <a:pt x="3198" y="14584"/>
                    <a:pt x="8891" y="8891"/>
                  </a:cubicBezTo>
                  <a:cubicBezTo>
                    <a:pt x="14584" y="3198"/>
                    <a:pt x="22305" y="0"/>
                    <a:pt x="30356" y="0"/>
                  </a:cubicBezTo>
                  <a:close/>
                </a:path>
              </a:pathLst>
            </a:custGeom>
            <a:solidFill>
              <a:srgbClr val="CEECEF"/>
            </a:solid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28575"/>
              <a:ext cx="2640230" cy="21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6635246" y="3618303"/>
            <a:ext cx="151909" cy="122976"/>
            <a:chOff x="0" y="0"/>
            <a:chExt cx="71483" cy="5786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71483" cy="57868"/>
            </a:xfrm>
            <a:custGeom>
              <a:avLst/>
              <a:gdLst/>
              <a:ahLst/>
              <a:cxnLst/>
              <a:rect r="r" b="b" t="t" l="l"/>
              <a:pathLst>
                <a:path h="57868" w="71483">
                  <a:moveTo>
                    <a:pt x="0" y="0"/>
                  </a:moveTo>
                  <a:lnTo>
                    <a:pt x="71483" y="0"/>
                  </a:lnTo>
                  <a:lnTo>
                    <a:pt x="71483" y="57868"/>
                  </a:lnTo>
                  <a:lnTo>
                    <a:pt x="0" y="57868"/>
                  </a:lnTo>
                  <a:close/>
                </a:path>
              </a:pathLst>
            </a:custGeom>
            <a:solidFill>
              <a:srgbClr val="CEECEF"/>
            </a:solid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28575"/>
              <a:ext cx="71483" cy="86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1176406" y="3891038"/>
            <a:ext cx="151909" cy="113979"/>
            <a:chOff x="0" y="0"/>
            <a:chExt cx="71483" cy="53635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71483" cy="53635"/>
            </a:xfrm>
            <a:custGeom>
              <a:avLst/>
              <a:gdLst/>
              <a:ahLst/>
              <a:cxnLst/>
              <a:rect r="r" b="b" t="t" l="l"/>
              <a:pathLst>
                <a:path h="53635" w="71483">
                  <a:moveTo>
                    <a:pt x="0" y="0"/>
                  </a:moveTo>
                  <a:lnTo>
                    <a:pt x="71483" y="0"/>
                  </a:lnTo>
                  <a:lnTo>
                    <a:pt x="71483" y="53635"/>
                  </a:lnTo>
                  <a:lnTo>
                    <a:pt x="0" y="53635"/>
                  </a:lnTo>
                  <a:close/>
                </a:path>
              </a:pathLst>
            </a:custGeom>
            <a:solidFill>
              <a:srgbClr val="CEECEF"/>
            </a:solid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28575"/>
              <a:ext cx="71483" cy="82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14" id="114"/>
          <p:cNvSpPr/>
          <p:nvPr/>
        </p:nvSpPr>
        <p:spPr>
          <a:xfrm>
            <a:off x="11169175" y="3618303"/>
            <a:ext cx="5617980" cy="386714"/>
          </a:xfrm>
          <a:custGeom>
            <a:avLst/>
            <a:gdLst/>
            <a:ahLst/>
            <a:cxnLst/>
            <a:rect r="r" b="b" t="t" l="l"/>
            <a:pathLst>
              <a:path h="386714" w="5617980">
                <a:moveTo>
                  <a:pt x="0" y="386714"/>
                </a:moveTo>
                <a:lnTo>
                  <a:pt x="5475105" y="386714"/>
                </a:lnTo>
                <a:cubicBezTo>
                  <a:pt x="5512997" y="386714"/>
                  <a:pt x="5549339" y="371661"/>
                  <a:pt x="5576133" y="344867"/>
                </a:cubicBezTo>
                <a:cubicBezTo>
                  <a:pt x="5602927" y="318073"/>
                  <a:pt x="5617980" y="281732"/>
                  <a:pt x="5617980" y="243839"/>
                </a:cubicBezTo>
                <a:lnTo>
                  <a:pt x="5617980" y="0"/>
                </a:lnTo>
              </a:path>
            </a:pathLst>
          </a:cu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5" id="115"/>
          <p:cNvGrpSpPr/>
          <p:nvPr/>
        </p:nvGrpSpPr>
        <p:grpSpPr>
          <a:xfrm rot="0">
            <a:off x="11169174" y="3610944"/>
            <a:ext cx="5798386" cy="1207694"/>
            <a:chOff x="0" y="0"/>
            <a:chExt cx="2728526" cy="5683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728526" cy="568300"/>
            </a:xfrm>
            <a:custGeom>
              <a:avLst/>
              <a:gdLst/>
              <a:ahLst/>
              <a:cxnLst/>
              <a:rect r="r" b="b" t="t" l="l"/>
              <a:pathLst>
                <a:path h="568300" w="2728526">
                  <a:moveTo>
                    <a:pt x="26704" y="0"/>
                  </a:moveTo>
                  <a:lnTo>
                    <a:pt x="2701822" y="0"/>
                  </a:lnTo>
                  <a:cubicBezTo>
                    <a:pt x="2708904" y="0"/>
                    <a:pt x="2715696" y="2813"/>
                    <a:pt x="2720704" y="7821"/>
                  </a:cubicBezTo>
                  <a:cubicBezTo>
                    <a:pt x="2725712" y="12829"/>
                    <a:pt x="2728526" y="19621"/>
                    <a:pt x="2728526" y="26704"/>
                  </a:cubicBezTo>
                  <a:lnTo>
                    <a:pt x="2728526" y="541596"/>
                  </a:lnTo>
                  <a:cubicBezTo>
                    <a:pt x="2728526" y="556344"/>
                    <a:pt x="2716570" y="568300"/>
                    <a:pt x="2701822" y="568300"/>
                  </a:cubicBezTo>
                  <a:lnTo>
                    <a:pt x="26704" y="568300"/>
                  </a:lnTo>
                  <a:cubicBezTo>
                    <a:pt x="11956" y="568300"/>
                    <a:pt x="0" y="556344"/>
                    <a:pt x="0" y="541596"/>
                  </a:cubicBezTo>
                  <a:lnTo>
                    <a:pt x="0" y="26704"/>
                  </a:lnTo>
                  <a:cubicBezTo>
                    <a:pt x="0" y="11956"/>
                    <a:pt x="11956" y="0"/>
                    <a:pt x="26704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7" id="117"/>
            <p:cNvSpPr txBox="true"/>
            <p:nvPr/>
          </p:nvSpPr>
          <p:spPr>
            <a:xfrm>
              <a:off x="0" y="-28575"/>
              <a:ext cx="2728526" cy="5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1811920" y="5126214"/>
            <a:ext cx="5798386" cy="1207694"/>
            <a:chOff x="0" y="0"/>
            <a:chExt cx="2728526" cy="56830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728526" cy="568300"/>
            </a:xfrm>
            <a:custGeom>
              <a:avLst/>
              <a:gdLst/>
              <a:ahLst/>
              <a:cxnLst/>
              <a:rect r="r" b="b" t="t" l="l"/>
              <a:pathLst>
                <a:path h="568300" w="2728526">
                  <a:moveTo>
                    <a:pt x="26704" y="0"/>
                  </a:moveTo>
                  <a:lnTo>
                    <a:pt x="2701822" y="0"/>
                  </a:lnTo>
                  <a:cubicBezTo>
                    <a:pt x="2708904" y="0"/>
                    <a:pt x="2715696" y="2813"/>
                    <a:pt x="2720704" y="7821"/>
                  </a:cubicBezTo>
                  <a:cubicBezTo>
                    <a:pt x="2725712" y="12829"/>
                    <a:pt x="2728526" y="19621"/>
                    <a:pt x="2728526" y="26704"/>
                  </a:cubicBezTo>
                  <a:lnTo>
                    <a:pt x="2728526" y="541596"/>
                  </a:lnTo>
                  <a:cubicBezTo>
                    <a:pt x="2728526" y="556344"/>
                    <a:pt x="2716570" y="568300"/>
                    <a:pt x="2701822" y="568300"/>
                  </a:cubicBezTo>
                  <a:lnTo>
                    <a:pt x="26704" y="568300"/>
                  </a:lnTo>
                  <a:cubicBezTo>
                    <a:pt x="11956" y="568300"/>
                    <a:pt x="0" y="556344"/>
                    <a:pt x="0" y="541596"/>
                  </a:cubicBezTo>
                  <a:lnTo>
                    <a:pt x="0" y="26704"/>
                  </a:lnTo>
                  <a:cubicBezTo>
                    <a:pt x="0" y="11956"/>
                    <a:pt x="11956" y="0"/>
                    <a:pt x="2670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0" id="120"/>
            <p:cNvSpPr txBox="true"/>
            <p:nvPr/>
          </p:nvSpPr>
          <p:spPr>
            <a:xfrm>
              <a:off x="0" y="-28575"/>
              <a:ext cx="2728526" cy="5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1819152" y="5133573"/>
            <a:ext cx="5610749" cy="386714"/>
            <a:chOff x="0" y="0"/>
            <a:chExt cx="2640230" cy="181975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640230" cy="181975"/>
            </a:xfrm>
            <a:custGeom>
              <a:avLst/>
              <a:gdLst/>
              <a:ahLst/>
              <a:cxnLst/>
              <a:rect r="r" b="b" t="t" l="l"/>
              <a:pathLst>
                <a:path h="181975" w="2640230">
                  <a:moveTo>
                    <a:pt x="30356" y="0"/>
                  </a:moveTo>
                  <a:lnTo>
                    <a:pt x="2609873" y="0"/>
                  </a:lnTo>
                  <a:cubicBezTo>
                    <a:pt x="2617925" y="0"/>
                    <a:pt x="2625646" y="3198"/>
                    <a:pt x="2631339" y="8891"/>
                  </a:cubicBezTo>
                  <a:cubicBezTo>
                    <a:pt x="2637032" y="14584"/>
                    <a:pt x="2640230" y="22305"/>
                    <a:pt x="2640230" y="30356"/>
                  </a:cubicBezTo>
                  <a:lnTo>
                    <a:pt x="2640230" y="151618"/>
                  </a:lnTo>
                  <a:cubicBezTo>
                    <a:pt x="2640230" y="159669"/>
                    <a:pt x="2637032" y="167391"/>
                    <a:pt x="2631339" y="173084"/>
                  </a:cubicBezTo>
                  <a:cubicBezTo>
                    <a:pt x="2625646" y="178777"/>
                    <a:pt x="2617925" y="181975"/>
                    <a:pt x="2609873" y="181975"/>
                  </a:cubicBezTo>
                  <a:lnTo>
                    <a:pt x="30356" y="181975"/>
                  </a:lnTo>
                  <a:cubicBezTo>
                    <a:pt x="22305" y="181975"/>
                    <a:pt x="14584" y="178777"/>
                    <a:pt x="8891" y="173084"/>
                  </a:cubicBezTo>
                  <a:cubicBezTo>
                    <a:pt x="3198" y="167391"/>
                    <a:pt x="0" y="159669"/>
                    <a:pt x="0" y="151618"/>
                  </a:cubicBezTo>
                  <a:lnTo>
                    <a:pt x="0" y="30356"/>
                  </a:lnTo>
                  <a:cubicBezTo>
                    <a:pt x="0" y="22305"/>
                    <a:pt x="3198" y="14584"/>
                    <a:pt x="8891" y="8891"/>
                  </a:cubicBezTo>
                  <a:cubicBezTo>
                    <a:pt x="14584" y="3198"/>
                    <a:pt x="22305" y="0"/>
                    <a:pt x="30356" y="0"/>
                  </a:cubicBezTo>
                  <a:close/>
                </a:path>
              </a:pathLst>
            </a:custGeom>
            <a:solidFill>
              <a:srgbClr val="FFE6B8"/>
            </a:solid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28575"/>
              <a:ext cx="2640230" cy="21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7277992" y="5133573"/>
            <a:ext cx="151909" cy="122976"/>
            <a:chOff x="0" y="0"/>
            <a:chExt cx="71483" cy="5786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71483" cy="57868"/>
            </a:xfrm>
            <a:custGeom>
              <a:avLst/>
              <a:gdLst/>
              <a:ahLst/>
              <a:cxnLst/>
              <a:rect r="r" b="b" t="t" l="l"/>
              <a:pathLst>
                <a:path h="57868" w="71483">
                  <a:moveTo>
                    <a:pt x="0" y="0"/>
                  </a:moveTo>
                  <a:lnTo>
                    <a:pt x="71483" y="0"/>
                  </a:lnTo>
                  <a:lnTo>
                    <a:pt x="71483" y="57868"/>
                  </a:lnTo>
                  <a:lnTo>
                    <a:pt x="0" y="57868"/>
                  </a:lnTo>
                  <a:close/>
                </a:path>
              </a:pathLst>
            </a:custGeom>
            <a:solidFill>
              <a:srgbClr val="FFE6B8"/>
            </a:solid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28575"/>
              <a:ext cx="71483" cy="86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1819152" y="5406307"/>
            <a:ext cx="151909" cy="113979"/>
            <a:chOff x="0" y="0"/>
            <a:chExt cx="71483" cy="53635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71483" cy="53635"/>
            </a:xfrm>
            <a:custGeom>
              <a:avLst/>
              <a:gdLst/>
              <a:ahLst/>
              <a:cxnLst/>
              <a:rect r="r" b="b" t="t" l="l"/>
              <a:pathLst>
                <a:path h="53635" w="71483">
                  <a:moveTo>
                    <a:pt x="0" y="0"/>
                  </a:moveTo>
                  <a:lnTo>
                    <a:pt x="71483" y="0"/>
                  </a:lnTo>
                  <a:lnTo>
                    <a:pt x="71483" y="53635"/>
                  </a:lnTo>
                  <a:lnTo>
                    <a:pt x="0" y="53635"/>
                  </a:lnTo>
                  <a:close/>
                </a:path>
              </a:pathLst>
            </a:custGeom>
            <a:solidFill>
              <a:srgbClr val="FFE6B8"/>
            </a:solid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28575"/>
              <a:ext cx="71483" cy="82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30" id="130"/>
          <p:cNvSpPr/>
          <p:nvPr/>
        </p:nvSpPr>
        <p:spPr>
          <a:xfrm>
            <a:off x="11811920" y="5133573"/>
            <a:ext cx="5617980" cy="386714"/>
          </a:xfrm>
          <a:custGeom>
            <a:avLst/>
            <a:gdLst/>
            <a:ahLst/>
            <a:cxnLst/>
            <a:rect r="r" b="b" t="t" l="l"/>
            <a:pathLst>
              <a:path h="386714" w="5617980">
                <a:moveTo>
                  <a:pt x="0" y="386714"/>
                </a:moveTo>
                <a:lnTo>
                  <a:pt x="5475105" y="386714"/>
                </a:lnTo>
                <a:cubicBezTo>
                  <a:pt x="5554014" y="386714"/>
                  <a:pt x="5617980" y="322747"/>
                  <a:pt x="5617980" y="243839"/>
                </a:cubicBezTo>
                <a:lnTo>
                  <a:pt x="5617980" y="0"/>
                </a:lnTo>
              </a:path>
            </a:pathLst>
          </a:cu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1" id="131"/>
          <p:cNvGrpSpPr/>
          <p:nvPr/>
        </p:nvGrpSpPr>
        <p:grpSpPr>
          <a:xfrm rot="0">
            <a:off x="11811920" y="5126214"/>
            <a:ext cx="5798386" cy="1207694"/>
            <a:chOff x="0" y="0"/>
            <a:chExt cx="2728526" cy="5683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728526" cy="568300"/>
            </a:xfrm>
            <a:custGeom>
              <a:avLst/>
              <a:gdLst/>
              <a:ahLst/>
              <a:cxnLst/>
              <a:rect r="r" b="b" t="t" l="l"/>
              <a:pathLst>
                <a:path h="568300" w="2728526">
                  <a:moveTo>
                    <a:pt x="26704" y="0"/>
                  </a:moveTo>
                  <a:lnTo>
                    <a:pt x="2701822" y="0"/>
                  </a:lnTo>
                  <a:cubicBezTo>
                    <a:pt x="2708904" y="0"/>
                    <a:pt x="2715696" y="2813"/>
                    <a:pt x="2720704" y="7821"/>
                  </a:cubicBezTo>
                  <a:cubicBezTo>
                    <a:pt x="2725712" y="12829"/>
                    <a:pt x="2728526" y="19621"/>
                    <a:pt x="2728526" y="26704"/>
                  </a:cubicBezTo>
                  <a:lnTo>
                    <a:pt x="2728526" y="541596"/>
                  </a:lnTo>
                  <a:cubicBezTo>
                    <a:pt x="2728526" y="556344"/>
                    <a:pt x="2716570" y="568300"/>
                    <a:pt x="2701822" y="568300"/>
                  </a:cubicBezTo>
                  <a:lnTo>
                    <a:pt x="26704" y="568300"/>
                  </a:lnTo>
                  <a:cubicBezTo>
                    <a:pt x="11956" y="568300"/>
                    <a:pt x="0" y="556344"/>
                    <a:pt x="0" y="541596"/>
                  </a:cubicBezTo>
                  <a:lnTo>
                    <a:pt x="0" y="26704"/>
                  </a:lnTo>
                  <a:cubicBezTo>
                    <a:pt x="0" y="11956"/>
                    <a:pt x="11956" y="0"/>
                    <a:pt x="26704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3" id="133"/>
            <p:cNvSpPr txBox="true"/>
            <p:nvPr/>
          </p:nvSpPr>
          <p:spPr>
            <a:xfrm>
              <a:off x="0" y="-28575"/>
              <a:ext cx="2728526" cy="5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4" id="134"/>
          <p:cNvSpPr/>
          <p:nvPr/>
        </p:nvSpPr>
        <p:spPr>
          <a:xfrm>
            <a:off x="9251686" y="1477956"/>
            <a:ext cx="1274742" cy="1221565"/>
          </a:xfrm>
          <a:custGeom>
            <a:avLst/>
            <a:gdLst/>
            <a:ahLst/>
            <a:cxnLst/>
            <a:rect r="r" b="b" t="t" l="l"/>
            <a:pathLst>
              <a:path h="1221565" w="1274742">
                <a:moveTo>
                  <a:pt x="1274743" y="1221565"/>
                </a:moveTo>
                <a:lnTo>
                  <a:pt x="180975" y="1221565"/>
                </a:lnTo>
                <a:cubicBezTo>
                  <a:pt x="81026" y="1221565"/>
                  <a:pt x="0" y="1140540"/>
                  <a:pt x="0" y="1040590"/>
                </a:cubicBezTo>
                <a:lnTo>
                  <a:pt x="0" y="180975"/>
                </a:lnTo>
                <a:cubicBezTo>
                  <a:pt x="0" y="132977"/>
                  <a:pt x="19068" y="86946"/>
                  <a:pt x="53007" y="53006"/>
                </a:cubicBezTo>
                <a:cubicBezTo>
                  <a:pt x="86946" y="19067"/>
                  <a:pt x="132978" y="0"/>
                  <a:pt x="180975" y="0"/>
                </a:cubicBezTo>
                <a:lnTo>
                  <a:pt x="860866" y="0"/>
                </a:lnTo>
              </a:path>
            </a:pathLst>
          </a:cu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5" id="135"/>
          <p:cNvSpPr txBox="true"/>
          <p:nvPr/>
        </p:nvSpPr>
        <p:spPr>
          <a:xfrm rot="0">
            <a:off x="10533660" y="2571195"/>
            <a:ext cx="5791154" cy="734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0896" indent="-155448" lvl="1">
              <a:lnSpc>
                <a:spcPts val="2015"/>
              </a:lnSpc>
              <a:buFont typeface="Arial"/>
              <a:buChar char="•"/>
            </a:pPr>
            <a:r>
              <a:rPr lang="en-US" b="true" sz="1439">
                <a:solidFill>
                  <a:srgbClr val="000000"/>
                </a:solidFill>
                <a:latin typeface="Canva Sans 1 Medium"/>
                <a:ea typeface="Canva Sans 1 Medium"/>
                <a:cs typeface="Canva Sans 1 Medium"/>
                <a:sym typeface="Canva Sans 1 Medium"/>
              </a:rPr>
              <a:t>Not just obfuscation-a complete custom compilation pipeline</a:t>
            </a:r>
          </a:p>
          <a:p>
            <a:pPr algn="l" marL="310896" indent="-155448" lvl="1">
              <a:lnSpc>
                <a:spcPts val="2015"/>
              </a:lnSpc>
              <a:buFont typeface="Arial"/>
              <a:buChar char="•"/>
            </a:pPr>
            <a:r>
              <a:rPr lang="en-US" b="true" sz="1439">
                <a:solidFill>
                  <a:srgbClr val="000000"/>
                </a:solidFill>
                <a:latin typeface="Canva Sans 1 Medium"/>
                <a:ea typeface="Canva Sans 1 Medium"/>
                <a:cs typeface="Canva Sans 1 Medium"/>
                <a:sym typeface="Canva Sans 1 Medium"/>
              </a:rPr>
              <a:t>From source to binary: every stage introduces uniqueness</a:t>
            </a:r>
          </a:p>
          <a:p>
            <a:pPr algn="l" marL="0" indent="0" lvl="0">
              <a:lnSpc>
                <a:spcPts val="2015"/>
              </a:lnSpc>
              <a:spcBef>
                <a:spcPct val="0"/>
              </a:spcBef>
            </a:pPr>
          </a:p>
        </p:txBody>
      </p:sp>
      <p:sp>
        <p:nvSpPr>
          <p:cNvPr name="TextBox 136" id="136"/>
          <p:cNvSpPr txBox="true"/>
          <p:nvPr/>
        </p:nvSpPr>
        <p:spPr>
          <a:xfrm rot="0">
            <a:off x="11179167" y="4052034"/>
            <a:ext cx="5788394" cy="73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744" indent="-155872" lvl="1">
              <a:lnSpc>
                <a:spcPts val="202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43" strike="noStrike" u="none">
                <a:solidFill>
                  <a:srgbClr val="000000"/>
                </a:solidFill>
                <a:latin typeface="Canva Sans 1 Medium"/>
                <a:ea typeface="Canva Sans 1 Medium"/>
                <a:cs typeface="Canva Sans 1 Medium"/>
                <a:sym typeface="Canva Sans 1 Medium"/>
              </a:rPr>
              <a:t>Manual packing is obsolete; every build is automatically unique</a:t>
            </a:r>
          </a:p>
          <a:p>
            <a:pPr algn="l" marL="311744" indent="-155872" lvl="1">
              <a:lnSpc>
                <a:spcPts val="202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43" strike="noStrike" u="none">
                <a:solidFill>
                  <a:srgbClr val="000000"/>
                </a:solidFill>
                <a:latin typeface="Canva Sans 1 Medium"/>
                <a:ea typeface="Canva Sans 1 Medium"/>
                <a:cs typeface="Canva Sans 1 Medium"/>
                <a:sym typeface="Canva Sans 1 Medium"/>
              </a:rPr>
              <a:t>Integrated obfuscators + encryption + polymorphic engines</a:t>
            </a:r>
          </a:p>
        </p:txBody>
      </p:sp>
      <p:sp>
        <p:nvSpPr>
          <p:cNvPr name="Freeform 137" id="137"/>
          <p:cNvSpPr/>
          <p:nvPr/>
        </p:nvSpPr>
        <p:spPr>
          <a:xfrm>
            <a:off x="9897193" y="2691931"/>
            <a:ext cx="1281974" cy="1548663"/>
          </a:xfrm>
          <a:custGeom>
            <a:avLst/>
            <a:gdLst/>
            <a:ahLst/>
            <a:cxnLst/>
            <a:rect r="r" b="b" t="t" l="l"/>
            <a:pathLst>
              <a:path h="1548663" w="1281974">
                <a:moveTo>
                  <a:pt x="1281973" y="1548663"/>
                </a:moveTo>
                <a:lnTo>
                  <a:pt x="180975" y="1548663"/>
                </a:lnTo>
                <a:cubicBezTo>
                  <a:pt x="132977" y="1548663"/>
                  <a:pt x="86946" y="1529596"/>
                  <a:pt x="53006" y="1495656"/>
                </a:cubicBezTo>
                <a:cubicBezTo>
                  <a:pt x="19067" y="1461717"/>
                  <a:pt x="0" y="1415685"/>
                  <a:pt x="0" y="1367688"/>
                </a:cubicBezTo>
                <a:lnTo>
                  <a:pt x="0" y="0"/>
                </a:lnTo>
              </a:path>
            </a:pathLst>
          </a:cu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8" id="138"/>
          <p:cNvSpPr/>
          <p:nvPr/>
        </p:nvSpPr>
        <p:spPr>
          <a:xfrm>
            <a:off x="10529947" y="4240594"/>
            <a:ext cx="1281973" cy="1489467"/>
          </a:xfrm>
          <a:custGeom>
            <a:avLst/>
            <a:gdLst/>
            <a:ahLst/>
            <a:cxnLst/>
            <a:rect r="r" b="b" t="t" l="l"/>
            <a:pathLst>
              <a:path h="1489467" w="1281973">
                <a:moveTo>
                  <a:pt x="1281973" y="1489467"/>
                </a:moveTo>
                <a:lnTo>
                  <a:pt x="180975" y="1489467"/>
                </a:lnTo>
                <a:cubicBezTo>
                  <a:pt x="81025" y="1489467"/>
                  <a:pt x="0" y="1408442"/>
                  <a:pt x="0" y="1308492"/>
                </a:cubicBezTo>
                <a:lnTo>
                  <a:pt x="0" y="0"/>
                </a:lnTo>
              </a:path>
            </a:pathLst>
          </a:cu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9" id="139"/>
          <p:cNvGrpSpPr/>
          <p:nvPr/>
        </p:nvGrpSpPr>
        <p:grpSpPr>
          <a:xfrm rot="0">
            <a:off x="10059579" y="1432049"/>
            <a:ext cx="105945" cy="87865"/>
            <a:chOff x="0" y="0"/>
            <a:chExt cx="980049" cy="8128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980049" cy="812800"/>
            </a:xfrm>
            <a:custGeom>
              <a:avLst/>
              <a:gdLst/>
              <a:ahLst/>
              <a:cxnLst/>
              <a:rect r="r" b="b" t="t" l="l"/>
              <a:pathLst>
                <a:path h="812800" w="980049">
                  <a:moveTo>
                    <a:pt x="490024" y="0"/>
                  </a:moveTo>
                  <a:cubicBezTo>
                    <a:pt x="219391" y="0"/>
                    <a:pt x="0" y="181951"/>
                    <a:pt x="0" y="406400"/>
                  </a:cubicBezTo>
                  <a:cubicBezTo>
                    <a:pt x="0" y="630849"/>
                    <a:pt x="219391" y="812800"/>
                    <a:pt x="490024" y="812800"/>
                  </a:cubicBezTo>
                  <a:cubicBezTo>
                    <a:pt x="760657" y="812800"/>
                    <a:pt x="980049" y="630849"/>
                    <a:pt x="980049" y="406400"/>
                  </a:cubicBezTo>
                  <a:cubicBezTo>
                    <a:pt x="980049" y="181951"/>
                    <a:pt x="760657" y="0"/>
                    <a:pt x="49002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1" id="141"/>
            <p:cNvSpPr txBox="true"/>
            <p:nvPr/>
          </p:nvSpPr>
          <p:spPr>
            <a:xfrm>
              <a:off x="91880" y="47625"/>
              <a:ext cx="79629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42" id="142"/>
          <p:cNvSpPr txBox="true"/>
          <p:nvPr/>
        </p:nvSpPr>
        <p:spPr>
          <a:xfrm rot="0">
            <a:off x="10685569" y="2162609"/>
            <a:ext cx="4894700" cy="246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8"/>
              </a:lnSpc>
              <a:spcBef>
                <a:spcPct val="0"/>
              </a:spcBef>
            </a:pPr>
            <a:r>
              <a:rPr lang="en-US" b="true" sz="1456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FIRST-OF-ITS-KIND LANGUAGE FRAMEWORK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1328315" y="3677879"/>
            <a:ext cx="4469467" cy="501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56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AUTOMATED POLYMORPHISM VIA CI/CD</a:t>
            </a:r>
          </a:p>
          <a:p>
            <a:pPr algn="l" marL="0" indent="0" lvl="0">
              <a:lnSpc>
                <a:spcPts val="2038"/>
              </a:lnSpc>
              <a:spcBef>
                <a:spcPct val="0"/>
              </a:spcBef>
            </a:pPr>
          </a:p>
        </p:txBody>
      </p:sp>
      <p:sp>
        <p:nvSpPr>
          <p:cNvPr name="TextBox 144" id="144"/>
          <p:cNvSpPr txBox="true"/>
          <p:nvPr/>
        </p:nvSpPr>
        <p:spPr>
          <a:xfrm rot="0">
            <a:off x="11971061" y="5193149"/>
            <a:ext cx="4275965" cy="501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56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DUAL-LAYER EVASION: USER + KERNEL</a:t>
            </a:r>
          </a:p>
          <a:p>
            <a:pPr algn="l" marL="0" indent="0" lvl="0">
              <a:lnSpc>
                <a:spcPts val="2038"/>
              </a:lnSpc>
              <a:spcBef>
                <a:spcPct val="0"/>
              </a:spcBef>
            </a:pPr>
          </a:p>
        </p:txBody>
      </p:sp>
      <p:sp>
        <p:nvSpPr>
          <p:cNvPr name="TextBox 145" id="145"/>
          <p:cNvSpPr txBox="true"/>
          <p:nvPr/>
        </p:nvSpPr>
        <p:spPr>
          <a:xfrm rot="0">
            <a:off x="11819152" y="5629986"/>
            <a:ext cx="5791154" cy="48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0896" indent="-155448" lvl="1">
              <a:lnSpc>
                <a:spcPts val="201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39" strike="noStrike" u="none">
                <a:solidFill>
                  <a:srgbClr val="000000"/>
                </a:solidFill>
                <a:latin typeface="Canva Sans 1 Medium"/>
                <a:ea typeface="Canva Sans 1 Medium"/>
                <a:cs typeface="Canva Sans 1 Medium"/>
                <a:sym typeface="Canva Sans 1 Medium"/>
              </a:rPr>
              <a:t>User-mode: in-memory execution, API unhooking</a:t>
            </a:r>
          </a:p>
          <a:p>
            <a:pPr algn="l" marL="310896" indent="-155448" lvl="1">
              <a:lnSpc>
                <a:spcPts val="201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39" strike="noStrike" u="none">
                <a:solidFill>
                  <a:srgbClr val="000000"/>
                </a:solidFill>
                <a:latin typeface="Canva Sans 1 Medium"/>
                <a:ea typeface="Canva Sans 1 Medium"/>
                <a:cs typeface="Canva Sans 1 Medium"/>
                <a:sym typeface="Canva Sans 1 Medium"/>
              </a:rPr>
              <a:t>Kernel-mode: BYOVD, driver-level subversion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556480" y="99212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Inter Bold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nva Sans 1 Bold"/>
              </a:rPr>
              <a:t>JOCKY COMPILATION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8138159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8046720" cy="1325880"/>
          </a:xfrm>
          <a:prstGeom prst="roundRect">
            <a:avLst/>
          </a:prstGeom>
          <a:noFill/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097280"/>
            <a:ext cx="7132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Roboto Bold"/>
              </a:rPr>
              <a:t>SOURCE CODE (.jky)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89888"/>
            <a:ext cx="71323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User writes JOCKY source files</a:t>
            </a:r>
          </a:p>
          <a:p>
            <a:pPr algn="l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Forensic analysis logic in custom syntax</a:t>
            </a:r>
          </a:p>
          <a:p>
            <a:pPr algn="l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Supports Windows &amp; Ubuntu targets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331720"/>
            <a:ext cx="19050" cy="1645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2496312"/>
            <a:ext cx="8046720" cy="1325880"/>
          </a:xfrm>
          <a:prstGeom prst="roundRect">
            <a:avLst/>
          </a:prstGeom>
          <a:noFill/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87752"/>
            <a:ext cx="7132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Roboto Bold"/>
              </a:rPr>
              <a:t>JOCKY LEXER / PARSER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880360"/>
            <a:ext cx="71323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Custom tokenization with obfuscated symbol names</a:t>
            </a:r>
          </a:p>
          <a:p>
            <a:pPr algn="l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Altered grammar rules confuse static analysis</a:t>
            </a:r>
          </a:p>
          <a:p>
            <a:pPr algn="l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Unique AST structure per compilation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822191"/>
            <a:ext cx="19050" cy="16459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3986783"/>
            <a:ext cx="8046720" cy="1325880"/>
          </a:xfrm>
          <a:prstGeom prst="roundRect">
            <a:avLst/>
          </a:prstGeom>
          <a:noFill/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96511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78223"/>
            <a:ext cx="7132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Roboto Bold"/>
              </a:rPr>
              <a:t>CUSTOM LLVM IR 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70831"/>
            <a:ext cx="71323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Independent intermediate representation</a:t>
            </a:r>
          </a:p>
          <a:p>
            <a:pPr algn="l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Control-flow graph randomization</a:t>
            </a:r>
          </a:p>
          <a:p>
            <a:pPr algn="l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Token generation mutation</a:t>
            </a:r>
          </a:p>
          <a:p>
            <a:pPr algn="l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Binary structure alteration (unique PE/ELF)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5312664"/>
            <a:ext cx="19050" cy="16459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" y="5477256"/>
            <a:ext cx="8046720" cy="1325880"/>
          </a:xfrm>
          <a:prstGeom prst="roundRect">
            <a:avLst/>
          </a:prstGeom>
          <a:noFill/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586984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568696"/>
            <a:ext cx="7132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Roboto Bold"/>
              </a:rPr>
              <a:t>POLYMORPHIC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861304"/>
            <a:ext cx="71323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Variable encryption routines (AES-XOR cascades)</a:t>
            </a:r>
          </a:p>
          <a:p>
            <a:pPr algn="l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Entry point randomization per build</a:t>
            </a:r>
          </a:p>
          <a:p>
            <a:pPr algn="l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Import table mutation (dynamic IAT)</a:t>
            </a:r>
          </a:p>
          <a:p>
            <a:pPr algn="l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Unique hash enforcement (zero collisions)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6803136"/>
            <a:ext cx="19050" cy="16459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5760" y="6967727"/>
            <a:ext cx="8046720" cy="1325880"/>
          </a:xfrm>
          <a:prstGeom prst="roundRect">
            <a:avLst/>
          </a:prstGeom>
          <a:noFill/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7077455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7059167"/>
            <a:ext cx="7132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Roboto Bold"/>
              </a:rPr>
              <a:t>PLATFORM BACKEND &amp;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7351775"/>
            <a:ext cx="71323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Windows: PE with custom sections</a:t>
            </a:r>
          </a:p>
          <a:p>
            <a:pPr algn="l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Ubuntu: ELF with non-standard segments</a:t>
            </a:r>
          </a:p>
          <a:p>
            <a:pPr algn="l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Unique binary → bypasses all signature DBs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274320"/>
            <a:ext cx="19050" cy="9692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274320"/>
            <a:ext cx="8686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00000"/>
                </a:solidFill>
                <a:latin typeface="Canva Sans 1 Bold"/>
              </a:rPr>
              <a:t>SYSTEM ARCHITECTURE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777240"/>
            <a:ext cx="8686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418320" y="1005840"/>
            <a:ext cx="8412480" cy="1417320"/>
          </a:xfrm>
          <a:prstGeom prst="roundRect">
            <a:avLst/>
          </a:prstGeom>
          <a:noFill/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18320" y="1005840"/>
            <a:ext cx="8412480" cy="320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1042416"/>
            <a:ext cx="804671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Roboto Bold"/>
              </a:rPr>
              <a:t>CENTRAL MANAGEMENT INTERFACE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1353312"/>
            <a:ext cx="8046719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5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Multi-system orchestration &amp; task scheduling</a:t>
            </a:r>
          </a:p>
          <a:p>
            <a:pPr algn="l">
              <a:lnSpc>
                <a:spcPts val="135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Forensic data aggregation dashboard</a:t>
            </a:r>
          </a:p>
          <a:p>
            <a:pPr algn="l">
              <a:lnSpc>
                <a:spcPts val="135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Investigator authentication &amp; audit logs</a:t>
            </a:r>
          </a:p>
          <a:p>
            <a:pPr algn="l">
              <a:lnSpc>
                <a:spcPts val="135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Encrypted session management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624560" y="2423160"/>
            <a:ext cx="19050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418320" y="2532888"/>
            <a:ext cx="8412480" cy="1417320"/>
          </a:xfrm>
          <a:prstGeom prst="roundRect">
            <a:avLst/>
          </a:prstGeom>
          <a:noFill/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18320" y="2532888"/>
            <a:ext cx="8412480" cy="320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0" y="2569464"/>
            <a:ext cx="804671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Roboto Bold"/>
              </a:rPr>
              <a:t>TRUSTED CLOUD 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2880360"/>
            <a:ext cx="8046719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5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Domain fronting via AWS/Azure/GCP CDNs</a:t>
            </a:r>
          </a:p>
          <a:p>
            <a:pPr algn="l">
              <a:lnSpc>
                <a:spcPts val="135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Legitimate cloud API communication</a:t>
            </a:r>
          </a:p>
          <a:p>
            <a:pPr algn="l">
              <a:lnSpc>
                <a:spcPts val="135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TLS 1.3 encrypted channels</a:t>
            </a:r>
          </a:p>
          <a:p>
            <a:pPr algn="l">
              <a:lnSpc>
                <a:spcPts val="135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Traffic indistinguishable from normal HTTPS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624560" y="3950208"/>
            <a:ext cx="19050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418320" y="4059935"/>
            <a:ext cx="8412480" cy="1417320"/>
          </a:xfrm>
          <a:prstGeom prst="roundRect">
            <a:avLst/>
          </a:prstGeom>
          <a:noFill/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418320" y="4059935"/>
            <a:ext cx="8412480" cy="320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0" y="4096511"/>
            <a:ext cx="804671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Roboto Bold"/>
              </a:rPr>
              <a:t>CLIENT AGENT LAYER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4407407"/>
            <a:ext cx="8046719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5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Cross-platform agents (Windows PE + Ubuntu ELF)</a:t>
            </a:r>
          </a:p>
          <a:p>
            <a:pPr algn="l">
              <a:lnSpc>
                <a:spcPts val="135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In-memory execution engine (fileless)</a:t>
            </a:r>
          </a:p>
          <a:p>
            <a:pPr algn="l">
              <a:lnSpc>
                <a:spcPts val="135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BYOVD kernel subversion module</a:t>
            </a:r>
          </a:p>
          <a:p>
            <a:pPr algn="l">
              <a:lnSpc>
                <a:spcPts val="135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Living-off-the-land toolkit</a:t>
            </a:r>
          </a:p>
          <a:p>
            <a:pPr algn="l">
              <a:lnSpc>
                <a:spcPts val="135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• Forensic analysis script runtime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5852160"/>
            <a:ext cx="8686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Canva Sans 1 Bold"/>
              </a:rPr>
              <a:t>EVASION TECHNIQUES MATRIX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6309360"/>
            <a:ext cx="86868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644652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Roboto Bold"/>
              </a:rPr>
              <a:t>LAYER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4652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Roboto Bold"/>
              </a:rPr>
              <a:t>TECHNIQUE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0" y="6446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Roboto Bold"/>
              </a:rPr>
              <a:t>MECHANISM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179040" y="644652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Roboto Bold"/>
              </a:rPr>
              <a:t>TARGET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26880" y="6739128"/>
            <a:ext cx="868680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0" y="6793992"/>
            <a:ext cx="1554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Static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793992"/>
            <a:ext cx="1737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Custom LLVM IR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801600" y="6793992"/>
            <a:ext cx="2286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Unique binary structures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179040" y="6793992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Signature DB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6880" y="7086600"/>
            <a:ext cx="86868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0" y="7132320"/>
            <a:ext cx="1554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Static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0" y="7132320"/>
            <a:ext cx="1737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Polymorphic Engine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801600" y="7132320"/>
            <a:ext cx="2286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Hash/entry point mutation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179040" y="7132320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File reputation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26880" y="7424927"/>
            <a:ext cx="86868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26880" y="7470648"/>
            <a:ext cx="1554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Behavioral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7470648"/>
            <a:ext cx="1737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Direct Syscalls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801600" y="7470648"/>
            <a:ext cx="2286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Bypass hooked APIs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179040" y="7470648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User-mode monitors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326880" y="7763256"/>
            <a:ext cx="86868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26880" y="7808975"/>
            <a:ext cx="1554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Behavioral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0" y="7808975"/>
            <a:ext cx="1737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API Unhooking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801600" y="7808975"/>
            <a:ext cx="2286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Restore original ntdll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179040" y="7808975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EDR hooks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26880" y="8101583"/>
            <a:ext cx="86868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26880" y="8147304"/>
            <a:ext cx="1554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Memory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972800" y="8147304"/>
            <a:ext cx="1737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Process Hollowing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801600" y="8147304"/>
            <a:ext cx="2286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Inject into trusted process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179040" y="8147304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Memory scanners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326880" y="8439912"/>
            <a:ext cx="86868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326880" y="8485632"/>
            <a:ext cx="1554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Memory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72800" y="8485632"/>
            <a:ext cx="1737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Reflective DLL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801600" y="8485632"/>
            <a:ext cx="2286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Load without LoadLibrary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179040" y="8485632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Import table analysis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326880" y="8778240"/>
            <a:ext cx="86868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326880" y="8823959"/>
            <a:ext cx="1554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Kernel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972800" y="8823959"/>
            <a:ext cx="1737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BYOVD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801600" y="8823959"/>
            <a:ext cx="2286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Load vulnerable driver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179040" y="8823959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Kernel monitors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26880" y="9116567"/>
            <a:ext cx="86868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326880" y="9162288"/>
            <a:ext cx="1554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Kernel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972800" y="9162288"/>
            <a:ext cx="1737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Driver Manipulation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801600" y="9162288"/>
            <a:ext cx="2286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Disable EDR callbacks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179040" y="9162288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Security agents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326880" y="9454896"/>
            <a:ext cx="86868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326880" y="9500616"/>
            <a:ext cx="1554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Network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72800" y="9500616"/>
            <a:ext cx="1737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Domain Fronting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801600" y="9500616"/>
            <a:ext cx="2286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Masquerade as CDN traffic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5179040" y="9500616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Network filters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4320" y="859536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Canva Sans 1 Bold"/>
              </a:rPr>
              <a:t>IN-MEMORY EXECUTION: 8-STEP WORKFLOW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" y="9006840"/>
            <a:ext cx="8412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① Launcher (direct syscalls)  →  ② Target process selection  →  ③ Process hollowing (Suspend→Unmap→Allocate→Write→Resume)  →  ④ Payload injection (reflective DLL)  →  ⑤ API unhooking (restore ntdll)  →  ⑥ Forensic analysis (fileless, in-memory)  →  ⑦ Data extraction (encrypted C2)  →  ⑧ Self-deletion (zero artifacts)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4320" y="9966960"/>
            <a:ext cx="1773936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556480" y="99212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Inter Bold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Canva Sans 1 Bold"/>
              </a:rPr>
              <a:t>FEASIBILITY AND VIABILITY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773936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17373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Canva Sans 1 Bold"/>
              </a:rPr>
              <a:t>FEASIBILITY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08760"/>
            <a:ext cx="5577840" cy="3017520"/>
          </a:xfrm>
          <a:prstGeom prst="roundRect">
            <a:avLst/>
          </a:prstGeom>
          <a:noFill/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19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73351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ITC Avant Garde Gothic Bold"/>
              </a:rPr>
              <a:t>Technical Feasibility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57400"/>
            <a:ext cx="530352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48839"/>
            <a:ext cx="5212079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000000"/>
                </a:solidFill>
                <a:latin typeface="Roboto Condensed"/>
              </a:rPr>
              <a:t>• LLVM compiler infrastructure is mature and extensible</a:t>
            </a:r>
          </a:p>
          <a:p>
            <a:pPr algn="l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000000"/>
                </a:solidFill>
                <a:latin typeface="Roboto Condensed"/>
              </a:rPr>
              <a:t>• Cross-platform compilation (Windows/Ubuntu) is proven</a:t>
            </a:r>
          </a:p>
          <a:p>
            <a:pPr algn="l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000000"/>
                </a:solidFill>
                <a:latin typeface="Roboto Condensed"/>
              </a:rPr>
              <a:t>• In-memory execution techniques well-documented in research</a:t>
            </a:r>
          </a:p>
          <a:p>
            <a:pPr algn="l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000000"/>
                </a:solidFill>
                <a:latin typeface="Roboto Condensed"/>
              </a:rPr>
              <a:t>• BYOVD leverages Microsoft WHQL-signed vulnerable drivers</a:t>
            </a:r>
          </a:p>
          <a:p>
            <a:pPr algn="l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000000"/>
                </a:solidFill>
                <a:latin typeface="Roboto Condensed"/>
              </a:rPr>
              <a:t>• Domain fronting uses legitimate cloud infrastructure</a:t>
            </a:r>
          </a:p>
          <a:p>
            <a:pPr algn="l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000000"/>
                </a:solidFill>
                <a:latin typeface="Roboto Condensed"/>
              </a:rPr>
              <a:t>• Custom LLVM IR frontend alters CFGs, tokens, binary 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577840" cy="3017520"/>
          </a:xfrm>
          <a:prstGeom prst="roundRect">
            <a:avLst/>
          </a:prstGeom>
          <a:noFill/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19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673351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ITC Avant Garde Gothic Bold"/>
              </a:rPr>
              <a:t>Economic Feasibility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057400"/>
            <a:ext cx="5303519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39"/>
            <a:ext cx="5212079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000000"/>
                </a:solidFill>
                <a:latin typeface="Roboto Condensed"/>
              </a:rPr>
              <a:t>• Open-source LLVM foundation (no licensing costs)</a:t>
            </a:r>
          </a:p>
          <a:p>
            <a:pPr algn="l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000000"/>
                </a:solidFill>
                <a:latin typeface="Roboto Condensed"/>
              </a:rPr>
              <a:t>• Cloud infrastructure is pay-as-you-go (AWS/Azure/GCP)</a:t>
            </a:r>
          </a:p>
          <a:p>
            <a:pPr algn="l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000000"/>
                </a:solidFill>
                <a:latin typeface="Roboto Condensed"/>
              </a:rPr>
              <a:t>• Development leverages existing forensic tool research</a:t>
            </a:r>
          </a:p>
          <a:p>
            <a:pPr algn="l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000000"/>
                </a:solidFill>
                <a:latin typeface="Roboto Condensed"/>
              </a:rPr>
              <a:t>• No specialized hardware required</a:t>
            </a:r>
          </a:p>
          <a:p>
            <a:pPr algn="l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000000"/>
                </a:solidFill>
                <a:latin typeface="Roboto Condensed"/>
              </a:rPr>
              <a:t>• Scalable from single investigator to enterprise SOC</a:t>
            </a:r>
          </a:p>
          <a:p>
            <a:pPr algn="l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000000"/>
                </a:solidFill>
                <a:latin typeface="Roboto Condensed"/>
              </a:rPr>
              <a:t>• Estimated cost: ₹15-20L for full development cycle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70080" y="1508760"/>
            <a:ext cx="5577840" cy="3017520"/>
          </a:xfrm>
          <a:prstGeom prst="roundRect">
            <a:avLst/>
          </a:prstGeom>
          <a:noFill/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59" y="1645919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0" y="1673351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ITC Avant Garde Gothic Bold"/>
              </a:rPr>
              <a:t>Operational Feasibility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207240" y="2057400"/>
            <a:ext cx="5303519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252959" y="2148839"/>
            <a:ext cx="5212079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000000"/>
                </a:solidFill>
                <a:latin typeface="Roboto Condensed"/>
              </a:rPr>
              <a:t>• Cross-platform covers 95% of enterprise environments</a:t>
            </a:r>
          </a:p>
          <a:p>
            <a:pPr algn="l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000000"/>
                </a:solidFill>
                <a:latin typeface="Roboto Condensed"/>
              </a:rPr>
              <a:t>• Central management simplifies multi-system analysis</a:t>
            </a:r>
          </a:p>
          <a:p>
            <a:pPr algn="l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000000"/>
                </a:solidFill>
                <a:latin typeface="Roboto Condensed"/>
              </a:rPr>
              <a:t>• Automated polymorphism reduces manual effort (~80%)</a:t>
            </a:r>
          </a:p>
          <a:p>
            <a:pPr algn="l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000000"/>
                </a:solidFill>
                <a:latin typeface="Roboto Condensed"/>
              </a:rPr>
              <a:t>• Training: forensic investigators with malware analysis skills</a:t>
            </a:r>
          </a:p>
          <a:p>
            <a:pPr algn="l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000000"/>
                </a:solidFill>
                <a:latin typeface="Roboto Condensed"/>
              </a:rPr>
              <a:t>• Integrates with existing forensic workflows (Volatility, YARA)</a:t>
            </a:r>
          </a:p>
          <a:p>
            <a:pPr algn="l">
              <a:lnSpc>
                <a:spcPts val="1500"/>
              </a:lnSpc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000000"/>
                </a:solidFill>
                <a:latin typeface="Roboto Condensed"/>
              </a:rPr>
              <a:t>• Law enforcement agencies can deploy without infrastructure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754880"/>
            <a:ext cx="8686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Canva Sans 1 Bold"/>
              </a:rPr>
              <a:t>POTENTIAL CHALLENGES &amp; RISKS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212080"/>
            <a:ext cx="841248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4924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Roboto Bold"/>
              </a:rPr>
              <a:t>CHALLENGE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534924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Roboto Bold"/>
              </a:rPr>
              <a:t>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5349240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Roboto Bold"/>
              </a:rPr>
              <a:t>LIKELIHOOD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623559"/>
            <a:ext cx="832104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696712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AV vendors adapt to LLVM IR patterns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5696712"/>
            <a:ext cx="1554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Roboto Condensed Bold"/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5696712"/>
            <a:ext cx="1828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044183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Microsoft patches vulnerable drivers (BYOVD)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6044183"/>
            <a:ext cx="1554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Roboto Condensed Bold"/>
              </a:rP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6044183"/>
            <a:ext cx="1828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391655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Cloud providers block domain fronting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6391655"/>
            <a:ext cx="1554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Roboto Condensed Bold"/>
              </a:rPr>
              <a:t>MEDIUM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6391655"/>
            <a:ext cx="1828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739127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Behavioral AI detects syscall patterns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6739127"/>
            <a:ext cx="1554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Roboto Condensed Bold"/>
              </a:rPr>
              <a:t>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6739127"/>
            <a:ext cx="1828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7086600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Memory scanners detect hollowed processes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7086600"/>
            <a:ext cx="1554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Roboto Condensed Bold"/>
              </a:rPr>
              <a:t>MEDIUM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7086600"/>
            <a:ext cx="1828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MEDIUM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7434071"/>
            <a:ext cx="4846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Legal/ethical dual-use concerns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7434071"/>
            <a:ext cx="1554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Roboto Condensed Bold"/>
              </a:rPr>
              <a:t>HIGH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7434071"/>
            <a:ext cx="1828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Roboto Condensed"/>
              </a:rPr>
              <a:t>LOW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4754880"/>
            <a:ext cx="19050" cy="50291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18320" y="4754880"/>
            <a:ext cx="8686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Canva Sans 1 Bold"/>
              </a:rPr>
              <a:t>STRATEGIES FOR OVERCOMING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18320" y="5212080"/>
            <a:ext cx="8595359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418320" y="5394960"/>
            <a:ext cx="8503920" cy="640080"/>
          </a:xfrm>
          <a:prstGeom prst="roundRect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55480" y="550468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12680" y="5449824"/>
            <a:ext cx="7680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Roboto Bold"/>
              </a:rPr>
              <a:t>Continuous LLVM IR Mutation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12680" y="5724144"/>
            <a:ext cx="7680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Randomize IR generation patterns per compilation cycle → Counters AV adaptation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18320" y="6108192"/>
            <a:ext cx="8503920" cy="640080"/>
          </a:xfrm>
          <a:prstGeom prst="roundRect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5480" y="621792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12680" y="6163056"/>
            <a:ext cx="7680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Roboto Bold"/>
              </a:rPr>
              <a:t>Driver Rotation Pool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12680" y="6437376"/>
            <a:ext cx="7680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Maintain DB of 50+ vulnerable drivers, rotate automatically → Counters driver patching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18320" y="6821424"/>
            <a:ext cx="8503920" cy="640080"/>
          </a:xfrm>
          <a:prstGeom prst="roundRect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55480" y="6931152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12680" y="6876288"/>
            <a:ext cx="7680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Roboto Bold"/>
              </a:rPr>
              <a:t>Multi-CDN Fallback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12680" y="7150608"/>
            <a:ext cx="7680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Support AWS, Azure, GCP, Cloudflare domain fronting → Counters CDN blocking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418320" y="7534656"/>
            <a:ext cx="8503920" cy="640080"/>
          </a:xfrm>
          <a:prstGeom prst="roundRect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55480" y="7644383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12680" y="7589520"/>
            <a:ext cx="7680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Roboto Bold"/>
              </a:rPr>
              <a:t>Syscall Diversification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12680" y="7863840"/>
            <a:ext cx="7680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Randomize syscall order, add junk syscalls, indirect calls → Counters behavioral AI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418320" y="8247888"/>
            <a:ext cx="8503920" cy="640080"/>
          </a:xfrm>
          <a:prstGeom prst="roundRect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55480" y="8357615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12680" y="8302752"/>
            <a:ext cx="7680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Roboto Bold"/>
              </a:rPr>
              <a:t>Multi-Process Injection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12680" y="8577072"/>
            <a:ext cx="7680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Spread across 3-5 processes → Counters memory scanners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418320" y="8961120"/>
            <a:ext cx="8503920" cy="640080"/>
          </a:xfrm>
          <a:prstGeom prst="roundRect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55480" y="907084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12680" y="9015984"/>
            <a:ext cx="7680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Roboto Bold"/>
              </a:rPr>
              <a:t>Law Enforcement Only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12680" y="9290304"/>
            <a:ext cx="7680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Restrict to certified agencies, audit trails → Addresses legal concerns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4320" y="7863840"/>
            <a:ext cx="17373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Canva Sans 1 Bold"/>
              </a:rPr>
              <a:t>DEVELOPMENT ROADMAP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8321040"/>
            <a:ext cx="1773936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65760" y="8412480"/>
            <a:ext cx="3383280" cy="146304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65760" y="8412480"/>
            <a:ext cx="338328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" y="84582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Roboto Bold"/>
              </a:rPr>
              <a:t>Phase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8851392"/>
            <a:ext cx="310896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LLVM Frontend</a:t>
            </a:r>
          </a:p>
          <a:p>
            <a:pPr algn="l">
              <a:lnSpc>
                <a:spcPts val="13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Custom IR generation</a:t>
            </a:r>
          </a:p>
          <a:p>
            <a:pPr algn="l">
              <a:lnSpc>
                <a:spcPts val="13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CFG alteration</a:t>
            </a:r>
          </a:p>
          <a:p>
            <a:pPr algn="l">
              <a:lnSpc>
                <a:spcPts val="13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Token randomization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749040" y="9144000"/>
            <a:ext cx="13716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3886200" y="8412480"/>
            <a:ext cx="3383280" cy="146304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886200" y="8412480"/>
            <a:ext cx="338328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977639" y="84582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Roboto Bold"/>
              </a:rPr>
              <a:t>Phase 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23360" y="8851392"/>
            <a:ext cx="310896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Polymorphic Engine</a:t>
            </a:r>
          </a:p>
          <a:p>
            <a:pPr algn="l">
              <a:lnSpc>
                <a:spcPts val="13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Hash mutation pipeline</a:t>
            </a:r>
          </a:p>
          <a:p>
            <a:pPr algn="l">
              <a:lnSpc>
                <a:spcPts val="13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Entry point randomization</a:t>
            </a:r>
          </a:p>
          <a:p>
            <a:pPr algn="l">
              <a:lnSpc>
                <a:spcPts val="13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Import table modification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269480" y="9144000"/>
            <a:ext cx="137159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7406640" y="8412480"/>
            <a:ext cx="3383280" cy="146304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406640" y="8412480"/>
            <a:ext cx="338328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498079" y="84582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Roboto Bold"/>
              </a:rPr>
              <a:t>Phase 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43800" y="8851392"/>
            <a:ext cx="310896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Evasion Modules</a:t>
            </a:r>
          </a:p>
          <a:p>
            <a:pPr algn="l">
              <a:lnSpc>
                <a:spcPts val="13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In-memory execution</a:t>
            </a:r>
          </a:p>
          <a:p>
            <a:pPr algn="l">
              <a:lnSpc>
                <a:spcPts val="13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BYOVD framework</a:t>
            </a:r>
          </a:p>
          <a:p>
            <a:pPr algn="l">
              <a:lnSpc>
                <a:spcPts val="13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API unhooking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789920" y="9144000"/>
            <a:ext cx="13716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0927080" y="8412480"/>
            <a:ext cx="3383280" cy="146304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927080" y="8412480"/>
            <a:ext cx="338328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018520" y="84582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Roboto Bold"/>
              </a:rPr>
              <a:t>Phase 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064240" y="8851392"/>
            <a:ext cx="310896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Central Management</a:t>
            </a:r>
          </a:p>
          <a:p>
            <a:pPr algn="l">
              <a:lnSpc>
                <a:spcPts val="13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C2 interface development</a:t>
            </a:r>
          </a:p>
          <a:p>
            <a:pPr algn="l">
              <a:lnSpc>
                <a:spcPts val="13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Multi-agent orchestration</a:t>
            </a:r>
          </a:p>
          <a:p>
            <a:pPr algn="l">
              <a:lnSpc>
                <a:spcPts val="13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Domain fronting integration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4310360" y="9144000"/>
            <a:ext cx="13716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14447520" y="8412480"/>
            <a:ext cx="3383280" cy="146304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4447520" y="8412480"/>
            <a:ext cx="338328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4538960" y="84582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Roboto Bold"/>
              </a:rPr>
              <a:t>Phase 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4584680" y="8851392"/>
            <a:ext cx="310896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Testing &amp; Hardening</a:t>
            </a:r>
          </a:p>
          <a:p>
            <a:pPr algn="l">
              <a:lnSpc>
                <a:spcPts val="13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Red team vs 20+ AV/EDR</a:t>
            </a:r>
          </a:p>
          <a:p>
            <a:pPr algn="l">
              <a:lnSpc>
                <a:spcPts val="13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Performance optimization</a:t>
            </a:r>
          </a:p>
          <a:p>
            <a:pPr algn="l">
              <a:lnSpc>
                <a:spcPts val="13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Cross-platform validation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320" y="9966960"/>
            <a:ext cx="1773936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556480" y="99212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Inter Bold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Canva Sans 1 Bold"/>
              </a:rPr>
              <a:t>IMPACT AND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773936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17373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Canva Sans 1 Bold"/>
              </a:rPr>
              <a:t>TARGET AUDIENCE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08760"/>
            <a:ext cx="5577840" cy="3200400"/>
          </a:xfrm>
          <a:prstGeom prst="roundRect">
            <a:avLst/>
          </a:prstGeom>
          <a:noFill/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19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18488"/>
            <a:ext cx="4663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</a:pPr>
            <a:r>
              <a:rPr sz="1600" b="1">
                <a:solidFill>
                  <a:srgbClr val="000000"/>
                </a:solidFill>
                <a:latin typeface="ITC Avant Garde Gothic Bold"/>
              </a:rPr>
              <a:t>DIGITAL FORENSIC</a:t>
            </a:r>
          </a:p>
          <a:p>
            <a:pPr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</a:pPr>
            <a:r>
              <a:rPr sz="1600" b="1">
                <a:solidFill>
                  <a:srgbClr val="000000"/>
                </a:solidFill>
                <a:latin typeface="ITC Avant Garde Gothic Bold"/>
              </a:rPr>
              <a:t>INVESTIGATORS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67128"/>
            <a:ext cx="530352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58568"/>
            <a:ext cx="5212079" cy="2377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Roboto Condensed"/>
              </a:rPr>
              <a:t>• Bypass AV restrictions on proprietary analysis tools</a:t>
            </a:r>
          </a:p>
          <a:p>
            <a:pPr algn="l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Roboto Condensed"/>
              </a:rPr>
              <a:t>• Deep system analysis without triggering alerts</a:t>
            </a:r>
          </a:p>
          <a:p>
            <a:pPr algn="l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Roboto Condensed"/>
              </a:rPr>
              <a:t>• Analyze compromised systems in hostile environments</a:t>
            </a:r>
          </a:p>
          <a:p>
            <a:pPr algn="l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Roboto Condensed"/>
              </a:rPr>
              <a:t>• Network forensics without detection</a:t>
            </a:r>
          </a:p>
          <a:p>
            <a:pPr algn="l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Roboto Condensed"/>
              </a:rPr>
              <a:t>• Maintain operational security during investigations</a:t>
            </a:r>
          </a:p>
          <a:p>
            <a:pPr algn="l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Roboto Condensed"/>
              </a:rPr>
              <a:t>• Fileless execution leaves zero artifacts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577840" cy="3200400"/>
          </a:xfrm>
          <a:prstGeom prst="roundRect">
            <a:avLst/>
          </a:prstGeom>
          <a:noFill/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19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618488"/>
            <a:ext cx="4663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</a:pPr>
            <a:r>
              <a:rPr sz="1600" b="1">
                <a:solidFill>
                  <a:srgbClr val="000000"/>
                </a:solidFill>
                <a:latin typeface="ITC Avant Garde Gothic Bold"/>
              </a:rPr>
              <a:t>LAW ENFORCEMENT</a:t>
            </a:r>
          </a:p>
          <a:p>
            <a:pPr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</a:pPr>
            <a:r>
              <a:rPr sz="1600" b="1">
                <a:solidFill>
                  <a:srgbClr val="000000"/>
                </a:solidFill>
                <a:latin typeface="ITC Avant Garde Gothic Bold"/>
              </a:rPr>
              <a:t>AGENCIES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167128"/>
            <a:ext cx="5303519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58568"/>
            <a:ext cx="5212079" cy="2377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Roboto Condensed"/>
              </a:rPr>
              <a:t>• Investigate cybercrime without alerting suspects</a:t>
            </a:r>
          </a:p>
          <a:p>
            <a:pPr algn="l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Roboto Condensed"/>
              </a:rPr>
              <a:t>• Covert digital forensics in active investigations</a:t>
            </a:r>
          </a:p>
          <a:p>
            <a:pPr algn="l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Roboto Condensed"/>
              </a:rPr>
              <a:t>• Analyze malware-infected systems safely</a:t>
            </a:r>
          </a:p>
          <a:p>
            <a:pPr algn="l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Roboto Condensed"/>
              </a:rPr>
              <a:t>• Incident response on compromised networks</a:t>
            </a:r>
          </a:p>
          <a:p>
            <a:pPr algn="l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Roboto Condensed"/>
              </a:rPr>
              <a:t>• Evidence gathering without contamination</a:t>
            </a:r>
          </a:p>
          <a:p>
            <a:pPr algn="l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Roboto Condensed"/>
              </a:rPr>
              <a:t>• Support prosecution with forensic-grade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70080" y="1508760"/>
            <a:ext cx="5577840" cy="3200400"/>
          </a:xfrm>
          <a:prstGeom prst="roundRect">
            <a:avLst/>
          </a:prstGeom>
          <a:noFill/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59" y="1645919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0" y="1618488"/>
            <a:ext cx="4663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</a:pPr>
            <a:r>
              <a:rPr sz="1600" b="1">
                <a:solidFill>
                  <a:srgbClr val="000000"/>
                </a:solidFill>
                <a:latin typeface="ITC Avant Garde Gothic Bold"/>
              </a:rPr>
              <a:t>ENTERPRISE SECURITY</a:t>
            </a:r>
          </a:p>
          <a:p>
            <a:pPr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</a:pPr>
            <a:r>
              <a:rPr sz="1600" b="1">
                <a:solidFill>
                  <a:srgbClr val="000000"/>
                </a:solidFill>
                <a:latin typeface="ITC Avant Garde Gothic Bold"/>
              </a:rPr>
              <a:t>TEAMS (RED TEAMS)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207240" y="2167128"/>
            <a:ext cx="5303519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252959" y="2258568"/>
            <a:ext cx="5212079" cy="2377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Roboto Condensed"/>
              </a:rPr>
              <a:t>• Simulate advanced adversaries for security testing</a:t>
            </a:r>
          </a:p>
          <a:p>
            <a:pPr algn="l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Roboto Condensed"/>
              </a:rPr>
              <a:t>• Test EDR/AV effectiveness against novel techniques</a:t>
            </a:r>
          </a:p>
          <a:p>
            <a:pPr algn="l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Roboto Condensed"/>
              </a:rPr>
              <a:t>• Validate detection against living-off-the-land attacks</a:t>
            </a:r>
          </a:p>
          <a:p>
            <a:pPr algn="l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Roboto Condensed"/>
              </a:rPr>
              <a:t>• Assess incident response readiness</a:t>
            </a:r>
          </a:p>
          <a:p>
            <a:pPr algn="l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Roboto Condensed"/>
              </a:rPr>
              <a:t>• Benchmark against state-sponsored threats</a:t>
            </a:r>
          </a:p>
          <a:p>
            <a:pPr algn="l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Roboto Condensed"/>
              </a:rPr>
              <a:t>• Purple team exercises with custom tooling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892040"/>
            <a:ext cx="17373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Canva Sans 1 Bold"/>
              </a:rPr>
              <a:t>BENEFITS OF THE SOLUTION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349240"/>
            <a:ext cx="1773936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5760" y="5532120"/>
            <a:ext cx="4206240" cy="265176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532120"/>
            <a:ext cx="420624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577840"/>
            <a:ext cx="402335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Roboto Bold"/>
              </a:rPr>
              <a:t>SOCIAL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43600"/>
            <a:ext cx="39319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50"/>
              </a:lnSpc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• Enhanced cybersecurity: better tools to combat cybercrime</a:t>
            </a:r>
          </a:p>
          <a:p>
            <a:pPr algn="l">
              <a:lnSpc>
                <a:spcPts val="1450"/>
              </a:lnSpc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• Digital justice: faster investigation of cybercrime cases</a:t>
            </a:r>
          </a:p>
          <a:p>
            <a:pPr algn="l">
              <a:lnSpc>
                <a:spcPts val="1450"/>
              </a:lnSpc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• Privacy protection: covert tools protect investigator identity</a:t>
            </a:r>
          </a:p>
          <a:p>
            <a:pPr algn="l">
              <a:lnSpc>
                <a:spcPts val="1450"/>
              </a:lnSpc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• Public safety: investigate threats to critical infrastructure</a:t>
            </a:r>
          </a:p>
          <a:p>
            <a:pPr algn="l">
              <a:lnSpc>
                <a:spcPts val="1450"/>
              </a:lnSpc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• Empowers investigators against state-sponsored actors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0" y="5532120"/>
            <a:ext cx="4206240" cy="265176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54880" y="5532120"/>
            <a:ext cx="420624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5577840"/>
            <a:ext cx="402335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Roboto Bold"/>
              </a:rPr>
              <a:t>ECONOMIC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5943600"/>
            <a:ext cx="39319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50"/>
              </a:lnSpc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• Cost savings: open-source foundation, no licensing fees</a:t>
            </a:r>
          </a:p>
          <a:p>
            <a:pPr algn="l">
              <a:lnSpc>
                <a:spcPts val="1450"/>
              </a:lnSpc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• Efficiency: automated polymorphism saves ~80% manual effort</a:t>
            </a:r>
          </a:p>
          <a:p>
            <a:pPr algn="l">
              <a:lnSpc>
                <a:spcPts val="1450"/>
              </a:lnSpc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• Market opportunity: commercialization to LE agencies globally</a:t>
            </a:r>
          </a:p>
          <a:p>
            <a:pPr algn="l">
              <a:lnSpc>
                <a:spcPts val="1450"/>
              </a:lnSpc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• Job creation: demand for skilled forensic investigators</a:t>
            </a:r>
          </a:p>
          <a:p>
            <a:pPr algn="l">
              <a:lnSpc>
                <a:spcPts val="1450"/>
              </a:lnSpc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• Reduced breach costs via faster incident response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5532120"/>
            <a:ext cx="4206240" cy="265176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0" y="5532120"/>
            <a:ext cx="420624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5577840"/>
            <a:ext cx="402335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Roboto Bold"/>
              </a:rPr>
              <a:t>ENVIRONMENTAL
IMPACT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5943600"/>
            <a:ext cx="39319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50"/>
              </a:lnSpc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• Cloud efficiency: domain fronting via existing CDN infra</a:t>
            </a:r>
          </a:p>
          <a:p>
            <a:pPr algn="l">
              <a:lnSpc>
                <a:spcPts val="1450"/>
              </a:lnSpc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• Resource optimization: reduces need for physical labs</a:t>
            </a:r>
          </a:p>
          <a:p>
            <a:pPr algn="l">
              <a:lnSpc>
                <a:spcPts val="1450"/>
              </a:lnSpc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• Digital-first: reduces travel for on-site investigations</a:t>
            </a:r>
          </a:p>
          <a:p>
            <a:pPr algn="l">
              <a:lnSpc>
                <a:spcPts val="1450"/>
              </a:lnSpc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• Minimal hardware footprint</a:t>
            </a:r>
          </a:p>
          <a:p>
            <a:pPr algn="l">
              <a:lnSpc>
                <a:spcPts val="1450"/>
              </a:lnSpc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• Energy-efficient cloud-native architecture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533120" y="5532120"/>
            <a:ext cx="4206240" cy="265176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533120" y="5532120"/>
            <a:ext cx="420624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624560" y="5577840"/>
            <a:ext cx="402335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Roboto Bold"/>
              </a:rPr>
              <a:t>STRATEGIC 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670280" y="5943600"/>
            <a:ext cx="39319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50"/>
              </a:lnSpc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• National security: advanced forensic for state-sponsored threats</a:t>
            </a:r>
          </a:p>
          <a:p>
            <a:pPr algn="l">
              <a:lnSpc>
                <a:spcPts val="1450"/>
              </a:lnSpc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• Technological sovereignty: indigenous advanced tool development</a:t>
            </a:r>
          </a:p>
          <a:p>
            <a:pPr algn="l">
              <a:lnSpc>
                <a:spcPts val="1450"/>
              </a:lnSpc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• Global leadership: position India in offensive security research</a:t>
            </a:r>
          </a:p>
          <a:p>
            <a:pPr algn="l">
              <a:lnSpc>
                <a:spcPts val="1450"/>
              </a:lnSpc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• Deterrence: advanced capabilities deter cybercriminals</a:t>
            </a:r>
          </a:p>
          <a:p>
            <a:pPr algn="l">
              <a:lnSpc>
                <a:spcPts val="1450"/>
              </a:lnSpc>
              <a:spcBef>
                <a:spcPts val="100"/>
              </a:spcBef>
              <a:spcAft>
                <a:spcPts val="10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• Atmanirbhar Bharat: self-reliant cybersecurity infrastructure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8366760"/>
            <a:ext cx="17373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Canva Sans 1 Bold"/>
              </a:rPr>
              <a:t>REAL-WORLD APPLICATION SCENARIOS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8732520"/>
            <a:ext cx="5577840" cy="109728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8805672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Roboto Bold"/>
              </a:rPr>
              <a:t>RANSOMWARE INVESTIGATION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9098280"/>
            <a:ext cx="5303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Deploy JOCKY → bypass AV → analyze ransomware in-memory → extract decryption keys → recover data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8732520"/>
            <a:ext cx="5577840" cy="109728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8805672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Roboto Bold"/>
              </a:rPr>
              <a:t>APT INVESTIGATION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9098280"/>
            <a:ext cx="5303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Use BYOVD to blind EDR → deploy JOCKY agents → covert forensic analysis → identify C2 infrastructure → remediate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070080" y="8732520"/>
            <a:ext cx="5577840" cy="109728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207240" y="8805672"/>
            <a:ext cx="5303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Roboto Bold"/>
              </a:rPr>
              <a:t>INSIDER THREAT INVESTIGATION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07240" y="9098280"/>
            <a:ext cx="5303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Covert JOCKY deployment → analyze suspect's system undetected → gather evidence of data theft → support legal proceedings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9966960"/>
            <a:ext cx="1773936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556480" y="99212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Inter Bold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Canva Sans 1 Bold"/>
              </a:rPr>
              <a:t>RESEARCH AND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773936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Canva Sans 1 Bold"/>
              </a:rPr>
              <a:t>ACADEMIC PAPERS &amp;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841248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7772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Roboto Bold"/>
              </a:rPr>
              <a:t>LLVM: A Compilation Framework for Lifelong Program Analysis &amp; Transformation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7772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C. Lattner et al. — CGO 2004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93391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47672"/>
            <a:ext cx="7772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Roboto Bold"/>
              </a:rPr>
              <a:t>The Art of Memory Forensics: Detecting Malware in Volatile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76272"/>
            <a:ext cx="7772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J. Levy et al. — Wiley, 2014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32303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386584"/>
            <a:ext cx="7772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Roboto Bold"/>
              </a:rPr>
              <a:t>Evading EDR: The Definitive Guide to Defeating Endpoint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15184"/>
            <a:ext cx="7772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M. Hand — No Starch Press, 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871215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25496"/>
            <a:ext cx="7772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Roboto Bold"/>
              </a:rPr>
              <a:t>Windows Security Monitoring: Scenarios and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54096"/>
            <a:ext cx="7772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A. Miroshnikov — Wiley, 2020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310127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264408"/>
            <a:ext cx="7772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Roboto Bold"/>
              </a:rPr>
              <a:t>Polymorphic Malware: Techniques and Countermeasures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493008"/>
            <a:ext cx="7772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A. Ghosh et al. — IEEE Security &amp; Privacy, 2019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749039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703320"/>
            <a:ext cx="7772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Roboto Bold"/>
              </a:rPr>
              <a:t>Bring Your Own Vulnerable Driver: A New Attack Vector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931920"/>
            <a:ext cx="7772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Microsoft Security Research — MSRC, 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187951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142231"/>
            <a:ext cx="7772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Roboto Bold"/>
              </a:rPr>
              <a:t>Learning Transferable Visual Models From Natural Language Supervision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70831"/>
            <a:ext cx="7772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CLIP — OpenAI, 2021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626864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581144"/>
            <a:ext cx="7772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Roboto Bold"/>
              </a:rPr>
              <a:t>LoRA: Low-Rank Adaptation of Large Language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09744"/>
            <a:ext cx="7772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Hu et al. — ICLR 2022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1005840"/>
            <a:ext cx="19050" cy="3931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100584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Canva Sans 1 Bold"/>
              </a:rPr>
              <a:t>TECHNICAL DOCUMENTATION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20" y="1417320"/>
            <a:ext cx="8595359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1554480"/>
            <a:ext cx="8412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0000"/>
                </a:solidFill>
                <a:latin typeface="Roboto Bold"/>
              </a:rPr>
              <a:t>▸ LLVM Compiler Infrastructure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1792224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LLVM Language Reference — llvm.org/docs/LangRef.html
LLVM IR Tutorial — llvm.org/docs/tutorial/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212848"/>
            <a:ext cx="8412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0000"/>
                </a:solidFill>
                <a:latin typeface="Roboto Bold"/>
              </a:rPr>
              <a:t>▸ In-Memory Execution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2450591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Process Hollowing — github.com/m0n0ph1/Process-Hollowing
Reflective DLL Injection — github.com/stephenfewer/ReflectiveDLLInjection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2871215"/>
            <a:ext cx="8412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0000"/>
                </a:solidFill>
                <a:latin typeface="Roboto Bold"/>
              </a:rPr>
              <a:t>▸ API Unhooking &amp; Direct Syscalls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3108959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IRED.team — Offensive Security Defense Evasion
Syswhispers2 — github.com/jthuraisamy/SysWhispers2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3529584"/>
            <a:ext cx="8412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0000"/>
                </a:solidFill>
                <a:latin typeface="Roboto Bold"/>
              </a:rPr>
              <a:t>▸ BYOVD Research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3767328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Microsoft WHQL Drivers — github.com/magicswordio/DBI
BYOVD Attacks — Microsoft MSRC Blog, 2022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4187952"/>
            <a:ext cx="8412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0000"/>
                </a:solidFill>
                <a:latin typeface="Roboto Bold"/>
              </a:rPr>
              <a:t>▸ Domain Fronting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4425696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AWS Fronting — bamsoftware.com/hacks/fronting/
CloudFront Domain Fronting — blog.safebuff.com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029200"/>
            <a:ext cx="1773936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521208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Canva Sans 1 Bold"/>
              </a:rPr>
              <a:t>TOOLS &amp; FRAMEWORKS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623560"/>
            <a:ext cx="84124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5715000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Roboto Bold"/>
              </a:rPr>
              <a:t>TOOL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60320" y="5715000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Roboto Bold"/>
              </a:rPr>
              <a:t>PURPOSE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5715000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Roboto Bold"/>
              </a:rPr>
              <a:t>LINK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971032"/>
            <a:ext cx="832104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603504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Roboto Bold"/>
              </a:rPr>
              <a:t>PE-Sieve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60320" y="603504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Detect in-memory malware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20640" y="603504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github.com/hasherezade/pe-sieve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355079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Roboto Bold"/>
              </a:rPr>
              <a:t>Hollows-Hunter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60320" y="6355079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Find hollowed processes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20640" y="6355079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github.com/hasherezade/hollows_hunter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67512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Roboto Bold"/>
              </a:rPr>
              <a:t>Sysmon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60320" y="667512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System monitoring (testing)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20640" y="667512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docs.microsoft.com/sysinternals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995159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Roboto Bold"/>
              </a:rPr>
              <a:t>Volatility 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60320" y="6995159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Memory forensics framework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20640" y="6995159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github.com/volatilityfoundation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731520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Roboto Bold"/>
              </a:rPr>
              <a:t>YARA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60320" y="731520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Pattern matching for malware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20640" y="731520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github.com/VirusTotal/yara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763524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Roboto Bold"/>
              </a:rPr>
              <a:t>Flare-VM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60320" y="763524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Roboto Condensed"/>
              </a:rPr>
              <a:t>Malware analysis environment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20640" y="763524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github.com/mandiant/flare-vm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0" y="5029200"/>
            <a:ext cx="19050" cy="475487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418320" y="5212080"/>
            <a:ext cx="8229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Canva Sans 1 Bold"/>
              </a:rPr>
              <a:t>CASE STUDIES &amp; REAL-WORLD APPLICATION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418320" y="5623560"/>
            <a:ext cx="8595359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418320" y="5760720"/>
            <a:ext cx="8503920" cy="960120"/>
          </a:xfrm>
          <a:prstGeom prst="roundRect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55480" y="5852159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66960" y="5824728"/>
            <a:ext cx="7772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0000"/>
                </a:solidFill>
                <a:latin typeface="Roboto Bold"/>
              </a:rPr>
              <a:t>SolarWinds Supply Chain Attack (2020)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66960" y="6080759"/>
            <a:ext cx="7772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Relevance: Demonstrates need for covert forensic tools
Lesson: Traditional AV failed to detect sophisticated supply chain compromise
Application: Could analyze compromised systems without alerting attackers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418320" y="6812280"/>
            <a:ext cx="8503920" cy="960120"/>
          </a:xfrm>
          <a:prstGeom prst="roundRect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555480" y="690372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66960" y="6876288"/>
            <a:ext cx="7772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0000"/>
                </a:solidFill>
                <a:latin typeface="Roboto Bold"/>
              </a:rPr>
              <a:t>Colonial Pipeline Ransomware (2021)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66960" y="7132320"/>
            <a:ext cx="7772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Relevance: Critical infrastructure under active attack
Lesson: IR teams need tools that bypass AV on compromised systems
Application: Covert analysis of ransomware behavior in operational environment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418320" y="7863840"/>
            <a:ext cx="8503920" cy="960120"/>
          </a:xfrm>
          <a:prstGeom prst="roundRect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555480" y="7955279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66960" y="7927848"/>
            <a:ext cx="7772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0000"/>
                </a:solidFill>
                <a:latin typeface="Roboto Bold"/>
              </a:rPr>
              <a:t>NotPetya Global Attack (2017)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966960" y="8183879"/>
            <a:ext cx="7772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Relevance: Nation-state level destructive threat
Lesson: Advanced threats require advanced forensic capabilities
Application: BYOVD techniques to analyze kernel-level wiper components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418320" y="8915400"/>
            <a:ext cx="8503920" cy="960120"/>
          </a:xfrm>
          <a:prstGeom prst="roundRect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555480" y="900684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Inter Bold"/>
              </a:rPr>
              <a:t>04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966960" y="8979408"/>
            <a:ext cx="7772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0000"/>
                </a:solidFill>
                <a:latin typeface="Roboto Bold"/>
              </a:rPr>
              <a:t>Lazarus Group APT Campaigns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966960" y="9235440"/>
            <a:ext cx="7772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Roboto Condensed"/>
              </a:rPr>
              <a:t>Relevance: Persistent threat actor targeting multiple sectors
Lesson: Need for tools operating in hostile environments
Application: LotL execution to avoid detection during long-term investigation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9966960"/>
            <a:ext cx="1773936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