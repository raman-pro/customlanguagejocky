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Garamond Bold" charset="1" panose="02020804030307010803"/>
      <p:regular r:id="rId9"/>
    </p:embeddedFont>
    <p:embeddedFont>
      <p:font typeface="Arial MT Pro Bold" charset="1" panose="020B0802020202020204"/>
      <p:regular r:id="rId10"/>
    </p:embeddedFont>
    <p:embeddedFont>
      <p:font typeface="Arial MT Pro" charset="1" panose="020B0502020202020204"/>
      <p:regular r:id="rId11"/>
    </p:embeddedFont>
    <p:embeddedFont>
      <p:font typeface="Canva Sans 1 Bold" charset="1" panose="020B0803030501040103"/>
      <p:regular r:id="rId12"/>
    </p:embeddedFont>
    <p:embeddedFont>
      <p:font typeface="League Spartan" charset="1" panose="00000800000000000000"/>
      <p:regular r:id="rId16"/>
    </p:embeddedFont>
    <p:embeddedFont>
      <p:font typeface="ITC Avant Garde Gothic Bold" charset="1" panose="020B0802020202020204"/>
      <p:regular r:id="rId17"/>
    </p:embeddedFont>
    <p:embeddedFont>
      <p:font typeface="Arial Bold" charset="1" panose="020B0704020202020204"/>
      <p:regular r:id="rId18"/>
    </p:embeddedFont>
    <p:embeddedFont>
      <p:font typeface="Arial" charset="1" panose="020B0604020202020204"/>
      <p:regular r:id="rId19"/>
    </p:embeddedFont>
    <p:embeddedFont>
      <p:font typeface="Roboto Condensed" charset="1" panose="02000000000000000000"/>
      <p:regular r:id="rId20"/>
    </p:embeddedFont>
    <p:embeddedFont>
      <p:font typeface="Roboto Condensed Bold" charset="1" panose="02000000000000000000"/>
      <p:regular r:id="rId21"/>
    </p:embeddedFont>
    <p:embeddedFont>
      <p:font typeface="Canva Sans 2 Bold" charset="1" panose="020B0803030501040103"/>
      <p:regular r:id="rId22"/>
    </p:embeddedFont>
    <p:embeddedFont>
      <p:font typeface="Inter Bold" charset="1" panose="020B0802030000000004"/>
      <p:regular r:id="rId23"/>
    </p:embeddedFont>
    <p:embeddedFont>
      <p:font typeface="Roboto Bold" charset="1" panose="02000000000000000000"/>
      <p:regular r:id="rId24"/>
    </p:embeddedFont>
    <p:embeddedFont>
      <p:font typeface="Canva Sans 1 Medium" charset="1" panose="020B0603030501040103"/>
      <p:regular r:id="rId25"/>
    </p:embeddedFont>
    <p:embeddedFont>
      <p:font typeface="Arimo Bold" charset="1" panose="020B0704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5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86094" y="1775938"/>
            <a:ext cx="6957908" cy="7732452"/>
            <a:chOff x="0" y="0"/>
            <a:chExt cx="9277210" cy="103099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77210" cy="10309936"/>
            </a:xfrm>
            <a:custGeom>
              <a:avLst/>
              <a:gdLst/>
              <a:ahLst/>
              <a:cxnLst/>
              <a:rect r="r" b="b" t="t" l="l"/>
              <a:pathLst>
                <a:path h="10309936" w="9277210">
                  <a:moveTo>
                    <a:pt x="0" y="0"/>
                  </a:moveTo>
                  <a:lnTo>
                    <a:pt x="9277210" y="0"/>
                  </a:lnTo>
                  <a:lnTo>
                    <a:pt x="9277210" y="10309936"/>
                  </a:lnTo>
                  <a:lnTo>
                    <a:pt x="0" y="10309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2870187" y="1901086"/>
              <a:ext cx="6407023" cy="6852476"/>
              <a:chOff x="0" y="0"/>
              <a:chExt cx="6407023" cy="685247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407023" cy="6852412"/>
              </a:xfrm>
              <a:custGeom>
                <a:avLst/>
                <a:gdLst/>
                <a:ahLst/>
                <a:cxnLst/>
                <a:rect r="r" b="b" t="t" l="l"/>
                <a:pathLst>
                  <a:path h="6852412" w="6407023">
                    <a:moveTo>
                      <a:pt x="0" y="0"/>
                    </a:moveTo>
                    <a:lnTo>
                      <a:pt x="6407023" y="0"/>
                    </a:lnTo>
                    <a:lnTo>
                      <a:pt x="6407023" y="6852412"/>
                    </a:lnTo>
                    <a:lnTo>
                      <a:pt x="0" y="685241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-149475" b="-1"/>
                </a:stretch>
              </a:blipFill>
            </p:spPr>
          </p:sp>
        </p:grpSp>
      </p:grp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77906" y="4467225"/>
            <a:ext cx="11157730" cy="50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 Statement ID - 26148</a:t>
            </a:r>
          </a:p>
          <a:p>
            <a:pPr algn="l">
              <a:lnSpc>
                <a:spcPts val="1750"/>
              </a:lnSpc>
            </a:pPr>
          </a:p>
          <a:p>
            <a:pPr algn="l" marL="734061" indent="-367031" lvl="1">
              <a:lnSpc>
                <a:spcPts val="4080"/>
              </a:lnSpc>
              <a:buFont typeface="Arial"/>
              <a:buChar char="•"/>
            </a:pPr>
            <a:r>
              <a:rPr lang="en-US" b="true" sz="34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 Statement Title - </a:t>
            </a:r>
            <a:r>
              <a:rPr lang="en-US" sz="340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Creation of scripts/functions with new programming language to commence Computer &amp; Network forensic analysis without triggering security solutions</a:t>
            </a: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Theme - Blockchain &amp; Cybersecurity</a:t>
            </a: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PS Category- Software</a:t>
            </a: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Team ID- </a:t>
            </a:r>
          </a:p>
          <a:p>
            <a:pPr algn="l" marL="755651" indent="-377825" lvl="1">
              <a:lnSpc>
                <a:spcPts val="420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Team Name - SIG_OUT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81884" y="1671163"/>
            <a:ext cx="2828608" cy="903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300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JOCKEY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49313" y="-446717"/>
            <a:ext cx="12390394" cy="2167814"/>
            <a:chOff x="0" y="0"/>
            <a:chExt cx="16520526" cy="28904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520525" cy="2890419"/>
            </a:xfrm>
            <a:custGeom>
              <a:avLst/>
              <a:gdLst/>
              <a:ahLst/>
              <a:cxnLst/>
              <a:rect r="r" b="b" t="t" l="l"/>
              <a:pathLst>
                <a:path h="2890419" w="16520525">
                  <a:moveTo>
                    <a:pt x="0" y="0"/>
                  </a:moveTo>
                  <a:lnTo>
                    <a:pt x="16520525" y="0"/>
                  </a:lnTo>
                  <a:lnTo>
                    <a:pt x="16520525" y="2890419"/>
                  </a:lnTo>
                  <a:lnTo>
                    <a:pt x="0" y="2890419"/>
                  </a:lnTo>
                  <a:close/>
                </a:path>
              </a:pathLst>
            </a:custGeom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6520526" cy="28904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JOCKY - [TODO: Add one line text]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16980" y="982521"/>
            <a:ext cx="9135267" cy="1584752"/>
            <a:chOff x="0" y="0"/>
            <a:chExt cx="3298068" cy="5721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98068" cy="572137"/>
            </a:xfrm>
            <a:custGeom>
              <a:avLst/>
              <a:gdLst/>
              <a:ahLst/>
              <a:cxnLst/>
              <a:rect r="r" b="b" t="t" l="l"/>
              <a:pathLst>
                <a:path h="572137" w="3298068">
                  <a:moveTo>
                    <a:pt x="3298068" y="34747"/>
                  </a:moveTo>
                  <a:lnTo>
                    <a:pt x="3298068" y="537390"/>
                  </a:lnTo>
                  <a:cubicBezTo>
                    <a:pt x="3298068" y="556580"/>
                    <a:pt x="3282512" y="572137"/>
                    <a:pt x="3263322" y="572137"/>
                  </a:cubicBezTo>
                  <a:lnTo>
                    <a:pt x="34747" y="572137"/>
                  </a:lnTo>
                  <a:cubicBezTo>
                    <a:pt x="15557" y="572137"/>
                    <a:pt x="0" y="556580"/>
                    <a:pt x="0" y="537390"/>
                  </a:cubicBezTo>
                  <a:lnTo>
                    <a:pt x="0" y="34747"/>
                  </a:lnTo>
                  <a:cubicBezTo>
                    <a:pt x="0" y="15557"/>
                    <a:pt x="15557" y="0"/>
                    <a:pt x="34747" y="0"/>
                  </a:cubicBezTo>
                  <a:lnTo>
                    <a:pt x="3263322" y="0"/>
                  </a:lnTo>
                  <a:cubicBezTo>
                    <a:pt x="3282512" y="0"/>
                    <a:pt x="3298068" y="15557"/>
                    <a:pt x="3298068" y="34747"/>
                  </a:cubicBezTo>
                  <a:close/>
                </a:path>
              </a:pathLst>
            </a:custGeom>
            <a:solidFill>
              <a:srgbClr val="FABEC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98068" cy="610237"/>
            </a:xfrm>
            <a:prstGeom prst="rect">
              <a:avLst/>
            </a:prstGeom>
          </p:spPr>
          <p:txBody>
            <a:bodyPr anchor="ctr" rtlCol="false" tIns="37059" lIns="37059" bIns="37059" rIns="37059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6257" y="2744631"/>
            <a:ext cx="3757580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Proposed Solution</a:t>
            </a:r>
          </a:p>
        </p:txBody>
      </p:sp>
      <p:sp>
        <p:nvSpPr>
          <p:cNvPr name="AutoShape 9" id="9"/>
          <p:cNvSpPr/>
          <p:nvPr/>
        </p:nvSpPr>
        <p:spPr>
          <a:xfrm>
            <a:off x="216257" y="3220881"/>
            <a:ext cx="399946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-416980" y="3351469"/>
            <a:ext cx="551991" cy="275995"/>
            <a:chOff x="0" y="0"/>
            <a:chExt cx="406400" cy="20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6400" cy="203200"/>
            </a:xfrm>
            <a:custGeom>
              <a:avLst/>
              <a:gdLst/>
              <a:ahLst/>
              <a:cxnLst/>
              <a:rect r="r" b="b" t="t" l="l"/>
              <a:pathLst>
                <a:path h="203200" w="406400">
                  <a:moveTo>
                    <a:pt x="0" y="0"/>
                  </a:moveTo>
                  <a:lnTo>
                    <a:pt x="203200" y="0"/>
                  </a:lnTo>
                  <a:lnTo>
                    <a:pt x="406400" y="101600"/>
                  </a:lnTo>
                  <a:lnTo>
                    <a:pt x="203200" y="203200"/>
                  </a:lnTo>
                  <a:lnTo>
                    <a:pt x="0" y="203200"/>
                  </a:lnTo>
                  <a:lnTo>
                    <a:pt x="203200" y="101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6A8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77800" y="-38100"/>
              <a:ext cx="152400" cy="24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5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144000" y="6553186"/>
            <a:ext cx="3364648" cy="567359"/>
            <a:chOff x="0" y="0"/>
            <a:chExt cx="849402" cy="1432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49402" cy="143229"/>
            </a:xfrm>
            <a:custGeom>
              <a:avLst/>
              <a:gdLst/>
              <a:ahLst/>
              <a:cxnLst/>
              <a:rect r="r" b="b" t="t" l="l"/>
              <a:pathLst>
                <a:path h="143229" w="849402">
                  <a:moveTo>
                    <a:pt x="46019" y="0"/>
                  </a:moveTo>
                  <a:lnTo>
                    <a:pt x="803383" y="0"/>
                  </a:lnTo>
                  <a:cubicBezTo>
                    <a:pt x="815588" y="0"/>
                    <a:pt x="827293" y="4848"/>
                    <a:pt x="835923" y="13479"/>
                  </a:cubicBezTo>
                  <a:cubicBezTo>
                    <a:pt x="844554" y="22109"/>
                    <a:pt x="849402" y="33814"/>
                    <a:pt x="849402" y="46019"/>
                  </a:cubicBezTo>
                  <a:lnTo>
                    <a:pt x="849402" y="97210"/>
                  </a:lnTo>
                  <a:cubicBezTo>
                    <a:pt x="849402" y="122626"/>
                    <a:pt x="828799" y="143229"/>
                    <a:pt x="803383" y="143229"/>
                  </a:cubicBezTo>
                  <a:lnTo>
                    <a:pt x="46019" y="143229"/>
                  </a:lnTo>
                  <a:cubicBezTo>
                    <a:pt x="33814" y="143229"/>
                    <a:pt x="22109" y="138381"/>
                    <a:pt x="13479" y="129750"/>
                  </a:cubicBezTo>
                  <a:cubicBezTo>
                    <a:pt x="4848" y="121120"/>
                    <a:pt x="0" y="109415"/>
                    <a:pt x="0" y="97210"/>
                  </a:cubicBezTo>
                  <a:lnTo>
                    <a:pt x="0" y="46019"/>
                  </a:lnTo>
                  <a:cubicBezTo>
                    <a:pt x="0" y="33814"/>
                    <a:pt x="4848" y="22109"/>
                    <a:pt x="13479" y="13479"/>
                  </a:cubicBezTo>
                  <a:cubicBezTo>
                    <a:pt x="22109" y="4848"/>
                    <a:pt x="33814" y="0"/>
                    <a:pt x="46019" y="0"/>
                  </a:cubicBezTo>
                  <a:close/>
                </a:path>
              </a:pathLst>
            </a:custGeom>
            <a:solidFill>
              <a:srgbClr val="E97F1E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49402" cy="190854"/>
            </a:xfrm>
            <a:prstGeom prst="rect">
              <a:avLst/>
            </a:prstGeom>
          </p:spPr>
          <p:txBody>
            <a:bodyPr anchor="ctr" rtlCol="false" tIns="52999" lIns="52999" bIns="52999" rIns="52999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9377635" y="8125463"/>
            <a:ext cx="495583" cy="0"/>
          </a:xfrm>
          <a:prstGeom prst="line">
            <a:avLst/>
          </a:prstGeom>
          <a:ln cap="flat" w="38100">
            <a:solidFill>
              <a:srgbClr val="E97F1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>
            <a:off x="9386991" y="7452853"/>
            <a:ext cx="451299" cy="0"/>
          </a:xfrm>
          <a:prstGeom prst="line">
            <a:avLst/>
          </a:prstGeom>
          <a:ln cap="flat" w="38100">
            <a:solidFill>
              <a:srgbClr val="E97F1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>
            <a:off x="9377635" y="8798004"/>
            <a:ext cx="428739" cy="29215"/>
          </a:xfrm>
          <a:prstGeom prst="line">
            <a:avLst/>
          </a:prstGeom>
          <a:ln cap="flat" w="38100">
            <a:solidFill>
              <a:srgbClr val="E97F1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9" id="19"/>
          <p:cNvSpPr/>
          <p:nvPr/>
        </p:nvSpPr>
        <p:spPr>
          <a:xfrm flipV="true">
            <a:off x="9386991" y="7089469"/>
            <a:ext cx="0" cy="2697378"/>
          </a:xfrm>
          <a:prstGeom prst="line">
            <a:avLst/>
          </a:prstGeom>
          <a:ln cap="flat" w="38100">
            <a:solidFill>
              <a:srgbClr val="E97F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9387160" y="9277349"/>
            <a:ext cx="419214" cy="3724"/>
          </a:xfrm>
          <a:prstGeom prst="line">
            <a:avLst/>
          </a:prstGeom>
          <a:ln cap="flat" w="38100">
            <a:solidFill>
              <a:srgbClr val="E97F1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1" id="21"/>
          <p:cNvSpPr/>
          <p:nvPr/>
        </p:nvSpPr>
        <p:spPr>
          <a:xfrm flipV="true">
            <a:off x="9386991" y="9764125"/>
            <a:ext cx="410027" cy="1862"/>
          </a:xfrm>
          <a:prstGeom prst="line">
            <a:avLst/>
          </a:prstGeom>
          <a:ln cap="flat" w="38100">
            <a:solidFill>
              <a:srgbClr val="E97F1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22" id="22"/>
          <p:cNvSpPr txBox="true"/>
          <p:nvPr/>
        </p:nvSpPr>
        <p:spPr>
          <a:xfrm rot="0">
            <a:off x="172887" y="3332419"/>
            <a:ext cx="854540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38"/>
              </a:lnSpc>
            </a:pPr>
            <a:r>
              <a:rPr lang="en-US" sz="1782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Jocky </a:t>
            </a:r>
            <a:r>
              <a:rPr lang="en-US" sz="178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A cross-platform programming language framework that enables systematic forensic analysis , bypassing all existing antivirus solutions through novel binary structures, polymorphic compilation, and living-off-the-land execution techniques.</a:t>
            </a:r>
          </a:p>
          <a:p>
            <a:pPr algn="l">
              <a:lnSpc>
                <a:spcPts val="2138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321271" y="6622552"/>
            <a:ext cx="308806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  <a:spcBef>
                <a:spcPct val="0"/>
              </a:spcBef>
            </a:pPr>
            <a:r>
              <a:rPr lang="en-US" b="true" sz="224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Problems Addressed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9111" y="1422524"/>
            <a:ext cx="8133878" cy="1103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90"/>
              </a:lnSpc>
              <a:spcBef>
                <a:spcPct val="0"/>
              </a:spcBef>
            </a:pPr>
            <a:r>
              <a:rPr lang="en-US" sz="1825" spc="8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Creation of </a:t>
            </a:r>
            <a:r>
              <a:rPr lang="en-US" b="true" sz="1825" spc="82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forensic analysis scripts</a:t>
            </a:r>
            <a:r>
              <a:rPr lang="en-US" sz="1825" spc="8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in a </a:t>
            </a:r>
            <a:r>
              <a:rPr lang="en-US" b="true" sz="1825" spc="82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new language</a:t>
            </a:r>
            <a:r>
              <a:rPr lang="en-US" sz="1825" spc="8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to avoid antivirus detection and kernel level security by preventing file reputation and dynamic analysis through a </a:t>
            </a:r>
            <a:r>
              <a:rPr lang="en-US" b="true" sz="1825" spc="82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Continous Integration/Continous Deployment(CI/CD)</a:t>
            </a:r>
            <a:r>
              <a:rPr lang="en-US" sz="1825" spc="8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pipeline.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2887" y="1074817"/>
            <a:ext cx="20620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2 Bold"/>
                <a:ea typeface="Canva Sans 2 Bold"/>
                <a:cs typeface="Canva Sans 2 Bold"/>
                <a:sym typeface="Canva Sans 2 Bold"/>
              </a:rPr>
              <a:t>BRIEF OF IDEA -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73218" y="7168169"/>
            <a:ext cx="8170465" cy="559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2"/>
              </a:lnSpc>
              <a:spcBef>
                <a:spcPct val="0"/>
              </a:spcBef>
            </a:pPr>
            <a:r>
              <a:rPr lang="en-US" sz="181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 LLVM IR alters binary signatures completely resulting in non detection by AV/EDR blocks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73218" y="7840779"/>
            <a:ext cx="8170465" cy="559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2"/>
              </a:lnSpc>
              <a:spcBef>
                <a:spcPct val="0"/>
              </a:spcBef>
            </a:pPr>
            <a:r>
              <a:rPr lang="en-US" sz="181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LotL + direct syscalls bypass behavioral monitoring leading to aversion by behavioral heuristics methods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73218" y="8511458"/>
            <a:ext cx="8170465" cy="559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2"/>
              </a:lnSpc>
              <a:spcBef>
                <a:spcPct val="0"/>
              </a:spcBef>
            </a:pPr>
            <a:r>
              <a:rPr lang="en-US" sz="181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Polymorphic engine generates unique binaries per deployment which tricks reputation databases maintained by antivirues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73218" y="9184069"/>
            <a:ext cx="8170465" cy="284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  <a:spcBef>
                <a:spcPct val="0"/>
              </a:spcBef>
            </a:pPr>
            <a:r>
              <a:rPr lang="en-US" sz="180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BYOVD techniques blind kernel security agents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73218" y="9601902"/>
            <a:ext cx="8170465" cy="559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  <a:spcBef>
                <a:spcPct val="0"/>
              </a:spcBef>
            </a:pPr>
            <a:r>
              <a:rPr lang="en-US" sz="180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Domain fronting via tr</a:t>
            </a:r>
            <a:r>
              <a:rPr lang="en-US" sz="1805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usted cloud infrastructure ensures that the network traffic does not get flagged</a:t>
            </a:r>
          </a:p>
        </p:txBody>
      </p:sp>
      <p:sp>
        <p:nvSpPr>
          <p:cNvPr name="AutoShape 31" id="31"/>
          <p:cNvSpPr/>
          <p:nvPr/>
        </p:nvSpPr>
        <p:spPr>
          <a:xfrm>
            <a:off x="7896539" y="4658261"/>
            <a:ext cx="0" cy="5099129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4052017" y="8003540"/>
            <a:ext cx="813931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675769" y="9762389"/>
            <a:ext cx="944589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2615359" y="7650600"/>
            <a:ext cx="0" cy="2116787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5244731" y="9762389"/>
            <a:ext cx="944589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6941937" y="9762389"/>
            <a:ext cx="954602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5249730" y="7650600"/>
            <a:ext cx="0" cy="2116787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38" id="38"/>
          <p:cNvSpPr/>
          <p:nvPr/>
        </p:nvSpPr>
        <p:spPr>
          <a:xfrm flipH="false" flipV="false" rot="0">
            <a:off x="913154" y="9300765"/>
            <a:ext cx="762615" cy="762615"/>
          </a:xfrm>
          <a:custGeom>
            <a:avLst/>
            <a:gdLst/>
            <a:ahLst/>
            <a:cxnLst/>
            <a:rect r="r" b="b" t="t" l="l"/>
            <a:pathLst>
              <a:path h="762615" w="762615">
                <a:moveTo>
                  <a:pt x="0" y="0"/>
                </a:moveTo>
                <a:lnTo>
                  <a:pt x="762615" y="0"/>
                </a:lnTo>
                <a:lnTo>
                  <a:pt x="762615" y="762615"/>
                </a:lnTo>
                <a:lnTo>
                  <a:pt x="0" y="7626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99111" y="7388267"/>
            <a:ext cx="2190701" cy="2190701"/>
          </a:xfrm>
          <a:custGeom>
            <a:avLst/>
            <a:gdLst/>
            <a:ahLst/>
            <a:cxnLst/>
            <a:rect r="r" b="b" t="t" l="l"/>
            <a:pathLst>
              <a:path h="2190701" w="2190701">
                <a:moveTo>
                  <a:pt x="0" y="0"/>
                </a:moveTo>
                <a:lnTo>
                  <a:pt x="2190701" y="0"/>
                </a:lnTo>
                <a:lnTo>
                  <a:pt x="2190701" y="2190701"/>
                </a:lnTo>
                <a:lnTo>
                  <a:pt x="0" y="21907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970999" y="9358610"/>
            <a:ext cx="646926" cy="646926"/>
          </a:xfrm>
          <a:custGeom>
            <a:avLst/>
            <a:gdLst/>
            <a:ahLst/>
            <a:cxnLst/>
            <a:rect r="r" b="b" t="t" l="l"/>
            <a:pathLst>
              <a:path h="646926" w="646926">
                <a:moveTo>
                  <a:pt x="0" y="0"/>
                </a:moveTo>
                <a:lnTo>
                  <a:pt x="646925" y="0"/>
                </a:lnTo>
                <a:lnTo>
                  <a:pt x="646925" y="646925"/>
                </a:lnTo>
                <a:lnTo>
                  <a:pt x="0" y="6469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3555854" y="7276055"/>
            <a:ext cx="749794" cy="749794"/>
          </a:xfrm>
          <a:custGeom>
            <a:avLst/>
            <a:gdLst/>
            <a:ahLst/>
            <a:cxnLst/>
            <a:rect r="r" b="b" t="t" l="l"/>
            <a:pathLst>
              <a:path h="749794" w="749794">
                <a:moveTo>
                  <a:pt x="0" y="0"/>
                </a:moveTo>
                <a:lnTo>
                  <a:pt x="749794" y="0"/>
                </a:lnTo>
                <a:lnTo>
                  <a:pt x="749794" y="749794"/>
                </a:lnTo>
                <a:lnTo>
                  <a:pt x="0" y="7497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2835400" y="7872679"/>
            <a:ext cx="2190701" cy="2190701"/>
          </a:xfrm>
          <a:custGeom>
            <a:avLst/>
            <a:gdLst/>
            <a:ahLst/>
            <a:cxnLst/>
            <a:rect r="r" b="b" t="t" l="l"/>
            <a:pathLst>
              <a:path h="2190701" w="2190701">
                <a:moveTo>
                  <a:pt x="0" y="0"/>
                </a:moveTo>
                <a:lnTo>
                  <a:pt x="2190701" y="0"/>
                </a:lnTo>
                <a:lnTo>
                  <a:pt x="2190701" y="2190701"/>
                </a:lnTo>
                <a:lnTo>
                  <a:pt x="0" y="21907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3607288" y="7327489"/>
            <a:ext cx="646926" cy="646926"/>
          </a:xfrm>
          <a:custGeom>
            <a:avLst/>
            <a:gdLst/>
            <a:ahLst/>
            <a:cxnLst/>
            <a:rect r="r" b="b" t="t" l="l"/>
            <a:pathLst>
              <a:path h="646926" w="646926">
                <a:moveTo>
                  <a:pt x="0" y="0"/>
                </a:moveTo>
                <a:lnTo>
                  <a:pt x="646926" y="0"/>
                </a:lnTo>
                <a:lnTo>
                  <a:pt x="646926" y="646926"/>
                </a:lnTo>
                <a:lnTo>
                  <a:pt x="0" y="6469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3549443" y="7434189"/>
            <a:ext cx="762615" cy="38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b="true" sz="2249" spc="2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05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6212322" y="9411950"/>
            <a:ext cx="749794" cy="749794"/>
          </a:xfrm>
          <a:custGeom>
            <a:avLst/>
            <a:gdLst/>
            <a:ahLst/>
            <a:cxnLst/>
            <a:rect r="r" b="b" t="t" l="l"/>
            <a:pathLst>
              <a:path h="749794" w="749794">
                <a:moveTo>
                  <a:pt x="0" y="0"/>
                </a:moveTo>
                <a:lnTo>
                  <a:pt x="749794" y="0"/>
                </a:lnTo>
                <a:lnTo>
                  <a:pt x="749794" y="749795"/>
                </a:lnTo>
                <a:lnTo>
                  <a:pt x="0" y="7497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5471690" y="7388267"/>
            <a:ext cx="2190701" cy="2190701"/>
          </a:xfrm>
          <a:custGeom>
            <a:avLst/>
            <a:gdLst/>
            <a:ahLst/>
            <a:cxnLst/>
            <a:rect r="r" b="b" t="t" l="l"/>
            <a:pathLst>
              <a:path h="2190701" w="2190701">
                <a:moveTo>
                  <a:pt x="0" y="0"/>
                </a:moveTo>
                <a:lnTo>
                  <a:pt x="2190701" y="0"/>
                </a:lnTo>
                <a:lnTo>
                  <a:pt x="2190701" y="2190701"/>
                </a:lnTo>
                <a:lnTo>
                  <a:pt x="0" y="21907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6257346" y="9463385"/>
            <a:ext cx="646926" cy="646926"/>
          </a:xfrm>
          <a:custGeom>
            <a:avLst/>
            <a:gdLst/>
            <a:ahLst/>
            <a:cxnLst/>
            <a:rect r="r" b="b" t="t" l="l"/>
            <a:pathLst>
              <a:path h="646926" w="646926">
                <a:moveTo>
                  <a:pt x="0" y="0"/>
                </a:moveTo>
                <a:lnTo>
                  <a:pt x="646925" y="0"/>
                </a:lnTo>
                <a:lnTo>
                  <a:pt x="646925" y="646925"/>
                </a:lnTo>
                <a:lnTo>
                  <a:pt x="0" y="6469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8" id="48"/>
          <p:cNvSpPr/>
          <p:nvPr/>
        </p:nvSpPr>
        <p:spPr>
          <a:xfrm flipH="true">
            <a:off x="4312058" y="7655599"/>
            <a:ext cx="939083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 flipH="true">
            <a:off x="2616771" y="7655599"/>
            <a:ext cx="939083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flipH="true">
            <a:off x="5241144" y="4653262"/>
            <a:ext cx="944589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flipH="true">
            <a:off x="6948348" y="4653262"/>
            <a:ext cx="944589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flipH="true">
            <a:off x="4312058" y="6760051"/>
            <a:ext cx="939083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 flipV="true">
            <a:off x="5246142" y="4648263"/>
            <a:ext cx="0" cy="2116787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 flipH="true">
            <a:off x="1672182" y="4653262"/>
            <a:ext cx="944589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 flipH="true">
            <a:off x="2616771" y="6760051"/>
            <a:ext cx="939083" cy="0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56" id="56"/>
          <p:cNvSpPr/>
          <p:nvPr/>
        </p:nvSpPr>
        <p:spPr>
          <a:xfrm flipV="true">
            <a:off x="2611772" y="4648263"/>
            <a:ext cx="0" cy="2116787"/>
          </a:xfrm>
          <a:prstGeom prst="line">
            <a:avLst/>
          </a:prstGeom>
          <a:ln cap="rnd" w="9525">
            <a:solidFill>
              <a:srgbClr val="CDCDCD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57" id="57"/>
          <p:cNvSpPr/>
          <p:nvPr/>
        </p:nvSpPr>
        <p:spPr>
          <a:xfrm flipH="false" flipV="false" rot="-10800000">
            <a:off x="6185733" y="4233026"/>
            <a:ext cx="762615" cy="762615"/>
          </a:xfrm>
          <a:custGeom>
            <a:avLst/>
            <a:gdLst/>
            <a:ahLst/>
            <a:cxnLst/>
            <a:rect r="r" b="b" t="t" l="l"/>
            <a:pathLst>
              <a:path h="762615" w="762615">
                <a:moveTo>
                  <a:pt x="0" y="0"/>
                </a:moveTo>
                <a:lnTo>
                  <a:pt x="762615" y="0"/>
                </a:lnTo>
                <a:lnTo>
                  <a:pt x="762615" y="762615"/>
                </a:lnTo>
                <a:lnTo>
                  <a:pt x="0" y="76261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-10800000">
            <a:off x="5471690" y="4836683"/>
            <a:ext cx="2190701" cy="2190701"/>
          </a:xfrm>
          <a:custGeom>
            <a:avLst/>
            <a:gdLst/>
            <a:ahLst/>
            <a:cxnLst/>
            <a:rect r="r" b="b" t="t" l="l"/>
            <a:pathLst>
              <a:path h="2190701" w="2190701">
                <a:moveTo>
                  <a:pt x="0" y="0"/>
                </a:moveTo>
                <a:lnTo>
                  <a:pt x="2190701" y="0"/>
                </a:lnTo>
                <a:lnTo>
                  <a:pt x="2190701" y="2190701"/>
                </a:lnTo>
                <a:lnTo>
                  <a:pt x="0" y="21907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-10800000">
            <a:off x="6243577" y="4290870"/>
            <a:ext cx="646926" cy="646926"/>
          </a:xfrm>
          <a:custGeom>
            <a:avLst/>
            <a:gdLst/>
            <a:ahLst/>
            <a:cxnLst/>
            <a:rect r="r" b="b" t="t" l="l"/>
            <a:pathLst>
              <a:path h="646926" w="646926">
                <a:moveTo>
                  <a:pt x="0" y="0"/>
                </a:moveTo>
                <a:lnTo>
                  <a:pt x="646926" y="0"/>
                </a:lnTo>
                <a:lnTo>
                  <a:pt x="646926" y="646926"/>
                </a:lnTo>
                <a:lnTo>
                  <a:pt x="0" y="6469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-10800000">
            <a:off x="3498009" y="6400583"/>
            <a:ext cx="749794" cy="749794"/>
          </a:xfrm>
          <a:custGeom>
            <a:avLst/>
            <a:gdLst/>
            <a:ahLst/>
            <a:cxnLst/>
            <a:rect r="r" b="b" t="t" l="l"/>
            <a:pathLst>
              <a:path h="749794" w="749794">
                <a:moveTo>
                  <a:pt x="0" y="0"/>
                </a:moveTo>
                <a:lnTo>
                  <a:pt x="749794" y="0"/>
                </a:lnTo>
                <a:lnTo>
                  <a:pt x="749794" y="749794"/>
                </a:lnTo>
                <a:lnTo>
                  <a:pt x="0" y="749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-10800000">
            <a:off x="2835400" y="4352271"/>
            <a:ext cx="2190701" cy="2190701"/>
          </a:xfrm>
          <a:custGeom>
            <a:avLst/>
            <a:gdLst/>
            <a:ahLst/>
            <a:cxnLst/>
            <a:rect r="r" b="b" t="t" l="l"/>
            <a:pathLst>
              <a:path h="2190701" w="2190701">
                <a:moveTo>
                  <a:pt x="0" y="0"/>
                </a:moveTo>
                <a:lnTo>
                  <a:pt x="2190701" y="0"/>
                </a:lnTo>
                <a:lnTo>
                  <a:pt x="2190701" y="2190701"/>
                </a:lnTo>
                <a:lnTo>
                  <a:pt x="0" y="21907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-10800000">
            <a:off x="3549443" y="6452017"/>
            <a:ext cx="646926" cy="646926"/>
          </a:xfrm>
          <a:custGeom>
            <a:avLst/>
            <a:gdLst/>
            <a:ahLst/>
            <a:cxnLst/>
            <a:rect r="r" b="b" t="t" l="l"/>
            <a:pathLst>
              <a:path h="646926" w="646926">
                <a:moveTo>
                  <a:pt x="0" y="0"/>
                </a:moveTo>
                <a:lnTo>
                  <a:pt x="646926" y="0"/>
                </a:lnTo>
                <a:lnTo>
                  <a:pt x="646926" y="646926"/>
                </a:lnTo>
                <a:lnTo>
                  <a:pt x="0" y="6469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-10800000">
            <a:off x="919564" y="4352271"/>
            <a:ext cx="749794" cy="749794"/>
          </a:xfrm>
          <a:custGeom>
            <a:avLst/>
            <a:gdLst/>
            <a:ahLst/>
            <a:cxnLst/>
            <a:rect r="r" b="b" t="t" l="l"/>
            <a:pathLst>
              <a:path h="749794" w="749794">
                <a:moveTo>
                  <a:pt x="0" y="0"/>
                </a:moveTo>
                <a:lnTo>
                  <a:pt x="749794" y="0"/>
                </a:lnTo>
                <a:lnTo>
                  <a:pt x="749794" y="749794"/>
                </a:lnTo>
                <a:lnTo>
                  <a:pt x="0" y="7497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-10800000">
            <a:off x="199111" y="4836683"/>
            <a:ext cx="2190701" cy="2190701"/>
          </a:xfrm>
          <a:custGeom>
            <a:avLst/>
            <a:gdLst/>
            <a:ahLst/>
            <a:cxnLst/>
            <a:rect r="r" b="b" t="t" l="l"/>
            <a:pathLst>
              <a:path h="2190701" w="2190701">
                <a:moveTo>
                  <a:pt x="0" y="0"/>
                </a:moveTo>
                <a:lnTo>
                  <a:pt x="2190701" y="0"/>
                </a:lnTo>
                <a:lnTo>
                  <a:pt x="2190701" y="2190701"/>
                </a:lnTo>
                <a:lnTo>
                  <a:pt x="0" y="21907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-10800000">
            <a:off x="970999" y="4397295"/>
            <a:ext cx="646926" cy="646926"/>
          </a:xfrm>
          <a:custGeom>
            <a:avLst/>
            <a:gdLst/>
            <a:ahLst/>
            <a:cxnLst/>
            <a:rect r="r" b="b" t="t" l="l"/>
            <a:pathLst>
              <a:path h="646926" w="646926">
                <a:moveTo>
                  <a:pt x="0" y="0"/>
                </a:moveTo>
                <a:lnTo>
                  <a:pt x="646925" y="0"/>
                </a:lnTo>
                <a:lnTo>
                  <a:pt x="646925" y="646925"/>
                </a:lnTo>
                <a:lnTo>
                  <a:pt x="0" y="6469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6" id="66"/>
          <p:cNvSpPr txBox="true"/>
          <p:nvPr/>
        </p:nvSpPr>
        <p:spPr>
          <a:xfrm rot="0">
            <a:off x="913154" y="9458899"/>
            <a:ext cx="762615" cy="38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b="true" sz="2249" spc="2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06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295082" y="7536074"/>
            <a:ext cx="2031752" cy="51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</a:pPr>
            <a:r>
              <a:rPr lang="en-US" b="true" sz="1449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MULTI-VECTOR IN-MEMORY EXECUTI</a:t>
            </a:r>
            <a:r>
              <a:rPr lang="en-US" b="true" sz="1449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99111" y="8161411"/>
            <a:ext cx="2163836" cy="118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1472" indent="-145736" lvl="1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35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Process hollowing &amp; thread hijacking</a:t>
            </a:r>
          </a:p>
          <a:p>
            <a:pPr algn="l" marL="291472" indent="-145736" lvl="1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35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Reflective DLL injection</a:t>
            </a:r>
          </a:p>
          <a:p>
            <a:pPr algn="l" marL="291472" indent="-145736" lvl="1">
              <a:lnSpc>
                <a:spcPts val="1890"/>
              </a:lnSpc>
              <a:spcBef>
                <a:spcPct val="0"/>
              </a:spcBef>
              <a:buFont typeface="Arial"/>
              <a:buChar char="•"/>
            </a:pPr>
            <a:r>
              <a:rPr lang="en-US" sz="135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API unhooking &amp; direct syscalls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5483092" y="7492441"/>
            <a:ext cx="2195433" cy="51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0"/>
              </a:lnSpc>
            </a:pPr>
            <a:r>
              <a:rPr lang="en-US" b="true" sz="1450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CENTRAL MANAGEMENT INTERFACE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5483092" y="8034872"/>
            <a:ext cx="2161805" cy="1343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5966" indent="-137983" lvl="1">
              <a:lnSpc>
                <a:spcPts val="1789"/>
              </a:lnSpc>
              <a:spcBef>
                <a:spcPct val="0"/>
              </a:spcBef>
              <a:buFont typeface="Arial"/>
              <a:buChar char="•"/>
            </a:pPr>
            <a:r>
              <a:rPr lang="en-US" sz="1278" spc="12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ul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ti-system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si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mul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ta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neou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 an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aly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</a:t>
            </a:r>
          </a:p>
          <a:p>
            <a:pPr algn="l" marL="275966" indent="-137983" lvl="1">
              <a:lnSpc>
                <a:spcPts val="1789"/>
              </a:lnSpc>
              <a:spcBef>
                <a:spcPct val="0"/>
              </a:spcBef>
              <a:buFont typeface="Arial"/>
              <a:buChar char="•"/>
            </a:pP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cure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C2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&amp;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fo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aggr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ga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ion</a:t>
            </a:r>
          </a:p>
          <a:p>
            <a:pPr algn="l" marL="275966" indent="-137983" lvl="1">
              <a:lnSpc>
                <a:spcPts val="1789"/>
              </a:lnSpc>
              <a:spcBef>
                <a:spcPct val="0"/>
              </a:spcBef>
              <a:buFont typeface="Arial"/>
              <a:buChar char="•"/>
            </a:pP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main f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ing 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&amp; CDN tra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fic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r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out</a:t>
            </a:r>
            <a:r>
              <a:rPr lang="en-US" sz="1278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ing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867772" y="8054424"/>
            <a:ext cx="2158330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</a:pPr>
            <a:r>
              <a:rPr lang="en-US" b="true" sz="1449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BRING YOUR OWN VULNER</a:t>
            </a:r>
            <a:r>
              <a:rPr lang="en-US" b="true" sz="1449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ABLE DRIVER</a:t>
            </a:r>
          </a:p>
          <a:p>
            <a:pPr algn="ctr">
              <a:lnSpc>
                <a:spcPts val="2029"/>
              </a:lnSpc>
            </a:pPr>
          </a:p>
        </p:txBody>
      </p:sp>
      <p:sp>
        <p:nvSpPr>
          <p:cNvPr name="TextBox 72" id="72"/>
          <p:cNvSpPr txBox="true"/>
          <p:nvPr/>
        </p:nvSpPr>
        <p:spPr>
          <a:xfrm rot="0">
            <a:off x="2839433" y="8640653"/>
            <a:ext cx="2176698" cy="1207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5926" indent="-147963" lvl="1">
              <a:lnSpc>
                <a:spcPts val="1918"/>
              </a:lnSpc>
              <a:spcBef>
                <a:spcPct val="0"/>
              </a:spcBef>
              <a:buFont typeface="Arial"/>
              <a:buChar char="•"/>
            </a:pPr>
            <a:r>
              <a:rPr lang="en-US" sz="1370" spc="13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er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ne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-l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ubv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sion 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&amp;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m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ipula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tio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</a:p>
          <a:p>
            <a:pPr algn="l" marL="295926" indent="-147963" lvl="1">
              <a:lnSpc>
                <a:spcPts val="1918"/>
              </a:lnSpc>
              <a:spcBef>
                <a:spcPct val="0"/>
              </a:spcBef>
              <a:buFont typeface="Arial"/>
              <a:buChar char="•"/>
            </a:pP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EDR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ca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lbac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 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disabling</a:t>
            </a:r>
          </a:p>
          <a:p>
            <a:pPr algn="l" marL="295926" indent="-147963" lvl="1">
              <a:lnSpc>
                <a:spcPts val="1918"/>
              </a:lnSpc>
              <a:spcBef>
                <a:spcPct val="0"/>
              </a:spcBef>
              <a:buFont typeface="Arial"/>
              <a:buChar char="•"/>
            </a:pP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Blind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 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r/k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ern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s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ecu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ri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ty age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  <a:r>
              <a:rPr lang="en-US" sz="1370" spc="13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199501" y="9570084"/>
            <a:ext cx="762615" cy="38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b="true" sz="2249" spc="2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04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913154" y="4516815"/>
            <a:ext cx="762615" cy="38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b="true" sz="2249" spc="2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01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29504" y="5146503"/>
            <a:ext cx="1696747" cy="515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0"/>
              </a:lnSpc>
            </a:pPr>
            <a:r>
              <a:rPr lang="en-US" b="true" sz="1450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CUSTOM LLVM-BASED LANGUAGE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216257" y="5680817"/>
            <a:ext cx="2173555" cy="140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1792" indent="-125896" lvl="1">
              <a:lnSpc>
                <a:spcPts val="1632"/>
              </a:lnSpc>
              <a:buFont typeface="Arial"/>
              <a:buChar char="•"/>
            </a:pPr>
            <a:r>
              <a:rPr lang="en-US" sz="1166" spc="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Independent intermediate representation (IR)</a:t>
            </a:r>
          </a:p>
          <a:p>
            <a:pPr algn="l" marL="251792" indent="-125896" lvl="1">
              <a:lnSpc>
                <a:spcPts val="1632"/>
              </a:lnSpc>
              <a:buFont typeface="Arial"/>
              <a:buChar char="•"/>
            </a:pPr>
            <a:r>
              <a:rPr lang="en-US" sz="1166" spc="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</a:t>
            </a:r>
            <a:r>
              <a:rPr lang="en-US" sz="1166" spc="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tered CFGs &amp; token generation</a:t>
            </a:r>
          </a:p>
          <a:p>
            <a:pPr algn="l" marL="251792" indent="-125896" lvl="1">
              <a:lnSpc>
                <a:spcPts val="1632"/>
              </a:lnSpc>
              <a:buFont typeface="Arial"/>
              <a:buChar char="•"/>
            </a:pPr>
            <a:r>
              <a:rPr lang="en-US" sz="1166" spc="11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Signature-evading binary structures</a:t>
            </a:r>
          </a:p>
          <a:p>
            <a:pPr algn="l">
              <a:lnSpc>
                <a:spcPts val="1632"/>
              </a:lnSpc>
            </a:pPr>
          </a:p>
        </p:txBody>
      </p:sp>
      <p:sp>
        <p:nvSpPr>
          <p:cNvPr name="TextBox 77" id="77"/>
          <p:cNvSpPr txBox="true"/>
          <p:nvPr/>
        </p:nvSpPr>
        <p:spPr>
          <a:xfrm rot="0">
            <a:off x="3491599" y="6576023"/>
            <a:ext cx="762615" cy="38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b="true" sz="2249" spc="2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02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835846" y="4427064"/>
            <a:ext cx="2181806" cy="515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4"/>
              </a:lnSpc>
            </a:pPr>
            <a:r>
              <a:rPr lang="en-US" b="true" sz="1453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CONTINUOUS POLYMORPHIC ENGINE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2839433" y="5051060"/>
            <a:ext cx="2154297" cy="1282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67669" indent="-133835" lvl="1">
              <a:lnSpc>
                <a:spcPts val="1735"/>
              </a:lnSpc>
              <a:spcBef>
                <a:spcPct val="0"/>
              </a:spcBef>
              <a:buFont typeface="Arial"/>
              <a:buChar char="•"/>
            </a:pPr>
            <a:r>
              <a:rPr lang="en-US" sz="1239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Automated CI/CD integration</a:t>
            </a:r>
          </a:p>
          <a:p>
            <a:pPr algn="l" marL="267669" indent="-133835" lvl="1">
              <a:lnSpc>
                <a:spcPts val="1735"/>
              </a:lnSpc>
              <a:spcBef>
                <a:spcPct val="0"/>
              </a:spcBef>
              <a:buFont typeface="Arial"/>
              <a:buChar char="•"/>
            </a:pPr>
            <a:r>
              <a:rPr lang="en-US" sz="1239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Unique hashes per compilation</a:t>
            </a:r>
          </a:p>
          <a:p>
            <a:pPr algn="l" marL="267669" indent="-133835" lvl="1">
              <a:lnSpc>
                <a:spcPts val="1735"/>
              </a:lnSpc>
              <a:spcBef>
                <a:spcPct val="0"/>
              </a:spcBef>
              <a:buFont typeface="Arial"/>
              <a:buChar char="•"/>
            </a:pPr>
            <a:r>
              <a:rPr lang="en-US" sz="1239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Dynamic entries &amp; import tables</a:t>
            </a:r>
          </a:p>
          <a:p>
            <a:pPr algn="l" marL="267669" indent="-133835" lvl="1">
              <a:lnSpc>
                <a:spcPts val="1735"/>
              </a:lnSpc>
              <a:spcBef>
                <a:spcPct val="0"/>
              </a:spcBef>
              <a:buFont typeface="Arial"/>
              <a:buChar char="•"/>
            </a:pPr>
            <a:r>
              <a:rPr lang="en-US" sz="1239" spc="12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Variable per-build encryption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6185733" y="4384749"/>
            <a:ext cx="762615" cy="38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b="true" sz="2249" spc="22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03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5450540" y="5006120"/>
            <a:ext cx="2194357" cy="51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9"/>
              </a:lnSpc>
            </a:pPr>
            <a:r>
              <a:rPr lang="en-US" b="true" sz="1449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LIVI</a:t>
            </a:r>
            <a:r>
              <a:rPr lang="en-US" b="true" sz="1449" spc="14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NG-OFF-THE-LAND (LOTL) EXECUTION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5483092" y="5542444"/>
            <a:ext cx="2208308" cy="1457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6087" indent="-128044" lvl="1">
              <a:lnSpc>
                <a:spcPts val="1660"/>
              </a:lnSpc>
              <a:spcBef>
                <a:spcPct val="0"/>
              </a:spcBef>
              <a:buFont typeface="Arial"/>
              <a:buChar char="•"/>
            </a:pPr>
            <a:r>
              <a:rPr lang="en-US" sz="1186" spc="11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Zero standard API calls</a:t>
            </a:r>
          </a:p>
          <a:p>
            <a:pPr algn="l" marL="256087" indent="-128044" lvl="1">
              <a:lnSpc>
                <a:spcPts val="1660"/>
              </a:lnSpc>
              <a:spcBef>
                <a:spcPct val="0"/>
              </a:spcBef>
              <a:buFont typeface="Arial"/>
              <a:buChar char="•"/>
            </a:pPr>
            <a:r>
              <a:rPr lang="en-US" sz="1186" spc="11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Native OS component utilization</a:t>
            </a:r>
          </a:p>
          <a:p>
            <a:pPr algn="l" marL="256087" indent="-128044" lvl="1">
              <a:lnSpc>
                <a:spcPts val="1660"/>
              </a:lnSpc>
              <a:spcBef>
                <a:spcPct val="0"/>
              </a:spcBef>
              <a:buFont typeface="Arial"/>
              <a:buChar char="•"/>
            </a:pPr>
            <a:r>
              <a:rPr lang="en-US" sz="1186" spc="11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Legitimate system tool persistence</a:t>
            </a:r>
          </a:p>
          <a:p>
            <a:pPr algn="l" marL="256087" indent="-128044" lvl="1">
              <a:lnSpc>
                <a:spcPts val="1660"/>
              </a:lnSpc>
              <a:spcBef>
                <a:spcPct val="0"/>
              </a:spcBef>
              <a:buFont typeface="Arial"/>
              <a:buChar char="•"/>
            </a:pPr>
            <a:r>
              <a:rPr lang="en-US" sz="1186" spc="11" strike="noStrike" u="none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Trusted process SOCKS5 routing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15561125" y="53875"/>
            <a:ext cx="2470729" cy="1166631"/>
            <a:chOff x="0" y="0"/>
            <a:chExt cx="4499699" cy="212467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1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0526429" y="2095674"/>
            <a:ext cx="5798386" cy="1207694"/>
            <a:chOff x="0" y="0"/>
            <a:chExt cx="2728526" cy="5683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728526" cy="568300"/>
            </a:xfrm>
            <a:custGeom>
              <a:avLst/>
              <a:gdLst/>
              <a:ahLst/>
              <a:cxnLst/>
              <a:rect r="r" b="b" t="t" l="l"/>
              <a:pathLst>
                <a:path h="568300" w="2728526">
                  <a:moveTo>
                    <a:pt x="26704" y="0"/>
                  </a:moveTo>
                  <a:lnTo>
                    <a:pt x="2701822" y="0"/>
                  </a:lnTo>
                  <a:cubicBezTo>
                    <a:pt x="2708904" y="0"/>
                    <a:pt x="2715696" y="2813"/>
                    <a:pt x="2720704" y="7821"/>
                  </a:cubicBezTo>
                  <a:cubicBezTo>
                    <a:pt x="2725712" y="12829"/>
                    <a:pt x="2728526" y="19621"/>
                    <a:pt x="2728526" y="26704"/>
                  </a:cubicBezTo>
                  <a:lnTo>
                    <a:pt x="2728526" y="541596"/>
                  </a:lnTo>
                  <a:cubicBezTo>
                    <a:pt x="2728526" y="556344"/>
                    <a:pt x="2716570" y="568300"/>
                    <a:pt x="2701822" y="568300"/>
                  </a:cubicBezTo>
                  <a:lnTo>
                    <a:pt x="26704" y="568300"/>
                  </a:lnTo>
                  <a:cubicBezTo>
                    <a:pt x="11956" y="568300"/>
                    <a:pt x="0" y="556344"/>
                    <a:pt x="0" y="541596"/>
                  </a:cubicBezTo>
                  <a:lnTo>
                    <a:pt x="0" y="26704"/>
                  </a:lnTo>
                  <a:cubicBezTo>
                    <a:pt x="0" y="11956"/>
                    <a:pt x="11956" y="0"/>
                    <a:pt x="2670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2728526" cy="5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533660" y="2103033"/>
            <a:ext cx="5610749" cy="386714"/>
            <a:chOff x="0" y="0"/>
            <a:chExt cx="2640230" cy="18197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640230" cy="181975"/>
            </a:xfrm>
            <a:custGeom>
              <a:avLst/>
              <a:gdLst/>
              <a:ahLst/>
              <a:cxnLst/>
              <a:rect r="r" b="b" t="t" l="l"/>
              <a:pathLst>
                <a:path h="181975" w="2640230">
                  <a:moveTo>
                    <a:pt x="30356" y="0"/>
                  </a:moveTo>
                  <a:lnTo>
                    <a:pt x="2609873" y="0"/>
                  </a:lnTo>
                  <a:cubicBezTo>
                    <a:pt x="2617925" y="0"/>
                    <a:pt x="2625646" y="3198"/>
                    <a:pt x="2631339" y="8891"/>
                  </a:cubicBezTo>
                  <a:cubicBezTo>
                    <a:pt x="2637032" y="14584"/>
                    <a:pt x="2640230" y="22305"/>
                    <a:pt x="2640230" y="30356"/>
                  </a:cubicBezTo>
                  <a:lnTo>
                    <a:pt x="2640230" y="151618"/>
                  </a:lnTo>
                  <a:cubicBezTo>
                    <a:pt x="2640230" y="159669"/>
                    <a:pt x="2637032" y="167391"/>
                    <a:pt x="2631339" y="173084"/>
                  </a:cubicBezTo>
                  <a:cubicBezTo>
                    <a:pt x="2625646" y="178777"/>
                    <a:pt x="2617925" y="181975"/>
                    <a:pt x="2609873" y="181975"/>
                  </a:cubicBezTo>
                  <a:lnTo>
                    <a:pt x="30356" y="181975"/>
                  </a:lnTo>
                  <a:cubicBezTo>
                    <a:pt x="22305" y="181975"/>
                    <a:pt x="14584" y="178777"/>
                    <a:pt x="8891" y="173084"/>
                  </a:cubicBezTo>
                  <a:cubicBezTo>
                    <a:pt x="3198" y="167391"/>
                    <a:pt x="0" y="159669"/>
                    <a:pt x="0" y="151618"/>
                  </a:cubicBezTo>
                  <a:lnTo>
                    <a:pt x="0" y="30356"/>
                  </a:lnTo>
                  <a:cubicBezTo>
                    <a:pt x="0" y="22305"/>
                    <a:pt x="3198" y="14584"/>
                    <a:pt x="8891" y="8891"/>
                  </a:cubicBezTo>
                  <a:cubicBezTo>
                    <a:pt x="14584" y="3198"/>
                    <a:pt x="22305" y="0"/>
                    <a:pt x="30356" y="0"/>
                  </a:cubicBezTo>
                  <a:close/>
                </a:path>
              </a:pathLst>
            </a:custGeom>
            <a:solidFill>
              <a:srgbClr val="FAB0AC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2640230" cy="21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5992500" y="2103033"/>
            <a:ext cx="151909" cy="122976"/>
            <a:chOff x="0" y="0"/>
            <a:chExt cx="71483" cy="5786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1483" cy="57868"/>
            </a:xfrm>
            <a:custGeom>
              <a:avLst/>
              <a:gdLst/>
              <a:ahLst/>
              <a:cxnLst/>
              <a:rect r="r" b="b" t="t" l="l"/>
              <a:pathLst>
                <a:path h="57868" w="71483">
                  <a:moveTo>
                    <a:pt x="0" y="0"/>
                  </a:moveTo>
                  <a:lnTo>
                    <a:pt x="71483" y="0"/>
                  </a:lnTo>
                  <a:lnTo>
                    <a:pt x="71483" y="57868"/>
                  </a:lnTo>
                  <a:lnTo>
                    <a:pt x="0" y="57868"/>
                  </a:lnTo>
                  <a:close/>
                </a:path>
              </a:pathLst>
            </a:custGeom>
            <a:solidFill>
              <a:srgbClr val="FAB0AC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71483" cy="86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0533660" y="2375768"/>
            <a:ext cx="151909" cy="113979"/>
            <a:chOff x="0" y="0"/>
            <a:chExt cx="71483" cy="5363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1483" cy="53635"/>
            </a:xfrm>
            <a:custGeom>
              <a:avLst/>
              <a:gdLst/>
              <a:ahLst/>
              <a:cxnLst/>
              <a:rect r="r" b="b" t="t" l="l"/>
              <a:pathLst>
                <a:path h="53635" w="71483">
                  <a:moveTo>
                    <a:pt x="0" y="0"/>
                  </a:moveTo>
                  <a:lnTo>
                    <a:pt x="71483" y="0"/>
                  </a:lnTo>
                  <a:lnTo>
                    <a:pt x="71483" y="53635"/>
                  </a:lnTo>
                  <a:lnTo>
                    <a:pt x="0" y="53635"/>
                  </a:lnTo>
                  <a:close/>
                </a:path>
              </a:pathLst>
            </a:custGeom>
            <a:solidFill>
              <a:srgbClr val="FAB0AC"/>
            </a:solid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71483" cy="82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0526429" y="2095674"/>
            <a:ext cx="5798386" cy="1207694"/>
            <a:chOff x="0" y="0"/>
            <a:chExt cx="2728526" cy="5683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728526" cy="568300"/>
            </a:xfrm>
            <a:custGeom>
              <a:avLst/>
              <a:gdLst/>
              <a:ahLst/>
              <a:cxnLst/>
              <a:rect r="r" b="b" t="t" l="l"/>
              <a:pathLst>
                <a:path h="568300" w="2728526">
                  <a:moveTo>
                    <a:pt x="26704" y="0"/>
                  </a:moveTo>
                  <a:lnTo>
                    <a:pt x="2701822" y="0"/>
                  </a:lnTo>
                  <a:cubicBezTo>
                    <a:pt x="2708904" y="0"/>
                    <a:pt x="2715696" y="2813"/>
                    <a:pt x="2720704" y="7821"/>
                  </a:cubicBezTo>
                  <a:cubicBezTo>
                    <a:pt x="2725712" y="12829"/>
                    <a:pt x="2728526" y="19621"/>
                    <a:pt x="2728526" y="26704"/>
                  </a:cubicBezTo>
                  <a:lnTo>
                    <a:pt x="2728526" y="541596"/>
                  </a:lnTo>
                  <a:cubicBezTo>
                    <a:pt x="2728526" y="556344"/>
                    <a:pt x="2716570" y="568300"/>
                    <a:pt x="2701822" y="568300"/>
                  </a:cubicBezTo>
                  <a:lnTo>
                    <a:pt x="26704" y="568300"/>
                  </a:lnTo>
                  <a:cubicBezTo>
                    <a:pt x="11956" y="568300"/>
                    <a:pt x="0" y="556344"/>
                    <a:pt x="0" y="541596"/>
                  </a:cubicBezTo>
                  <a:lnTo>
                    <a:pt x="0" y="26704"/>
                  </a:lnTo>
                  <a:cubicBezTo>
                    <a:pt x="0" y="11956"/>
                    <a:pt x="11956" y="0"/>
                    <a:pt x="26704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9" id="99"/>
            <p:cNvSpPr txBox="true"/>
            <p:nvPr/>
          </p:nvSpPr>
          <p:spPr>
            <a:xfrm>
              <a:off x="0" y="-28575"/>
              <a:ext cx="2728526" cy="5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0" id="100"/>
          <p:cNvSpPr/>
          <p:nvPr/>
        </p:nvSpPr>
        <p:spPr>
          <a:xfrm>
            <a:off x="10526429" y="2103033"/>
            <a:ext cx="5617981" cy="386714"/>
          </a:xfrm>
          <a:custGeom>
            <a:avLst/>
            <a:gdLst/>
            <a:ahLst/>
            <a:cxnLst/>
            <a:rect r="r" b="b" t="t" l="l"/>
            <a:pathLst>
              <a:path h="386714" w="5617981">
                <a:moveTo>
                  <a:pt x="0" y="386714"/>
                </a:moveTo>
                <a:lnTo>
                  <a:pt x="5475106" y="386714"/>
                </a:lnTo>
                <a:cubicBezTo>
                  <a:pt x="5512998" y="386714"/>
                  <a:pt x="5549340" y="371661"/>
                  <a:pt x="5576134" y="344867"/>
                </a:cubicBezTo>
                <a:cubicBezTo>
                  <a:pt x="5602928" y="318073"/>
                  <a:pt x="5617981" y="281732"/>
                  <a:pt x="5617981" y="243839"/>
                </a:cubicBezTo>
                <a:lnTo>
                  <a:pt x="5617981" y="0"/>
                </a:lnTo>
              </a:path>
            </a:pathLst>
          </a:cu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1" id="101"/>
          <p:cNvSpPr txBox="true"/>
          <p:nvPr/>
        </p:nvSpPr>
        <p:spPr>
          <a:xfrm rot="0">
            <a:off x="9599935" y="1165305"/>
            <a:ext cx="7536063" cy="55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63"/>
              </a:lnSpc>
              <a:spcBef>
                <a:spcPct val="0"/>
              </a:spcBef>
            </a:pPr>
            <a:r>
              <a:rPr lang="en-US" b="true" sz="3259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WHAT MAKES JOCKY UNIQUE?</a:t>
            </a:r>
          </a:p>
        </p:txBody>
      </p:sp>
      <p:grpSp>
        <p:nvGrpSpPr>
          <p:cNvPr name="Group 102" id="102"/>
          <p:cNvGrpSpPr/>
          <p:nvPr/>
        </p:nvGrpSpPr>
        <p:grpSpPr>
          <a:xfrm rot="0">
            <a:off x="11169174" y="3610944"/>
            <a:ext cx="5798386" cy="1207694"/>
            <a:chOff x="0" y="0"/>
            <a:chExt cx="2728526" cy="5683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728526" cy="568300"/>
            </a:xfrm>
            <a:custGeom>
              <a:avLst/>
              <a:gdLst/>
              <a:ahLst/>
              <a:cxnLst/>
              <a:rect r="r" b="b" t="t" l="l"/>
              <a:pathLst>
                <a:path h="568300" w="2728526">
                  <a:moveTo>
                    <a:pt x="26704" y="0"/>
                  </a:moveTo>
                  <a:lnTo>
                    <a:pt x="2701822" y="0"/>
                  </a:lnTo>
                  <a:cubicBezTo>
                    <a:pt x="2708904" y="0"/>
                    <a:pt x="2715696" y="2813"/>
                    <a:pt x="2720704" y="7821"/>
                  </a:cubicBezTo>
                  <a:cubicBezTo>
                    <a:pt x="2725712" y="12829"/>
                    <a:pt x="2728526" y="19621"/>
                    <a:pt x="2728526" y="26704"/>
                  </a:cubicBezTo>
                  <a:lnTo>
                    <a:pt x="2728526" y="541596"/>
                  </a:lnTo>
                  <a:cubicBezTo>
                    <a:pt x="2728526" y="556344"/>
                    <a:pt x="2716570" y="568300"/>
                    <a:pt x="2701822" y="568300"/>
                  </a:cubicBezTo>
                  <a:lnTo>
                    <a:pt x="26704" y="568300"/>
                  </a:lnTo>
                  <a:cubicBezTo>
                    <a:pt x="11956" y="568300"/>
                    <a:pt x="0" y="556344"/>
                    <a:pt x="0" y="541596"/>
                  </a:cubicBezTo>
                  <a:lnTo>
                    <a:pt x="0" y="26704"/>
                  </a:lnTo>
                  <a:cubicBezTo>
                    <a:pt x="0" y="11956"/>
                    <a:pt x="11956" y="0"/>
                    <a:pt x="2670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4" id="104"/>
            <p:cNvSpPr txBox="true"/>
            <p:nvPr/>
          </p:nvSpPr>
          <p:spPr>
            <a:xfrm>
              <a:off x="0" y="-28575"/>
              <a:ext cx="2728526" cy="5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176406" y="3618303"/>
            <a:ext cx="5610749" cy="386714"/>
            <a:chOff x="0" y="0"/>
            <a:chExt cx="2640230" cy="181975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640230" cy="181975"/>
            </a:xfrm>
            <a:custGeom>
              <a:avLst/>
              <a:gdLst/>
              <a:ahLst/>
              <a:cxnLst/>
              <a:rect r="r" b="b" t="t" l="l"/>
              <a:pathLst>
                <a:path h="181975" w="2640230">
                  <a:moveTo>
                    <a:pt x="30356" y="0"/>
                  </a:moveTo>
                  <a:lnTo>
                    <a:pt x="2609873" y="0"/>
                  </a:lnTo>
                  <a:cubicBezTo>
                    <a:pt x="2617925" y="0"/>
                    <a:pt x="2625646" y="3198"/>
                    <a:pt x="2631339" y="8891"/>
                  </a:cubicBezTo>
                  <a:cubicBezTo>
                    <a:pt x="2637032" y="14584"/>
                    <a:pt x="2640230" y="22305"/>
                    <a:pt x="2640230" y="30356"/>
                  </a:cubicBezTo>
                  <a:lnTo>
                    <a:pt x="2640230" y="151618"/>
                  </a:lnTo>
                  <a:cubicBezTo>
                    <a:pt x="2640230" y="159669"/>
                    <a:pt x="2637032" y="167391"/>
                    <a:pt x="2631339" y="173084"/>
                  </a:cubicBezTo>
                  <a:cubicBezTo>
                    <a:pt x="2625646" y="178777"/>
                    <a:pt x="2617925" y="181975"/>
                    <a:pt x="2609873" y="181975"/>
                  </a:cubicBezTo>
                  <a:lnTo>
                    <a:pt x="30356" y="181975"/>
                  </a:lnTo>
                  <a:cubicBezTo>
                    <a:pt x="22305" y="181975"/>
                    <a:pt x="14584" y="178777"/>
                    <a:pt x="8891" y="173084"/>
                  </a:cubicBezTo>
                  <a:cubicBezTo>
                    <a:pt x="3198" y="167391"/>
                    <a:pt x="0" y="159669"/>
                    <a:pt x="0" y="151618"/>
                  </a:cubicBezTo>
                  <a:lnTo>
                    <a:pt x="0" y="30356"/>
                  </a:lnTo>
                  <a:cubicBezTo>
                    <a:pt x="0" y="22305"/>
                    <a:pt x="3198" y="14584"/>
                    <a:pt x="8891" y="8891"/>
                  </a:cubicBezTo>
                  <a:cubicBezTo>
                    <a:pt x="14584" y="3198"/>
                    <a:pt x="22305" y="0"/>
                    <a:pt x="30356" y="0"/>
                  </a:cubicBezTo>
                  <a:close/>
                </a:path>
              </a:pathLst>
            </a:custGeom>
            <a:solidFill>
              <a:srgbClr val="CEECEF"/>
            </a:solid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2640230" cy="21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6635246" y="3618303"/>
            <a:ext cx="151909" cy="122976"/>
            <a:chOff x="0" y="0"/>
            <a:chExt cx="71483" cy="5786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71483" cy="57868"/>
            </a:xfrm>
            <a:custGeom>
              <a:avLst/>
              <a:gdLst/>
              <a:ahLst/>
              <a:cxnLst/>
              <a:rect r="r" b="b" t="t" l="l"/>
              <a:pathLst>
                <a:path h="57868" w="71483">
                  <a:moveTo>
                    <a:pt x="0" y="0"/>
                  </a:moveTo>
                  <a:lnTo>
                    <a:pt x="71483" y="0"/>
                  </a:lnTo>
                  <a:lnTo>
                    <a:pt x="71483" y="57868"/>
                  </a:lnTo>
                  <a:lnTo>
                    <a:pt x="0" y="57868"/>
                  </a:lnTo>
                  <a:close/>
                </a:path>
              </a:pathLst>
            </a:custGeom>
            <a:solidFill>
              <a:srgbClr val="CEECEF"/>
            </a:solid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28575"/>
              <a:ext cx="71483" cy="86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1176406" y="3891038"/>
            <a:ext cx="151909" cy="113979"/>
            <a:chOff x="0" y="0"/>
            <a:chExt cx="71483" cy="53635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71483" cy="53635"/>
            </a:xfrm>
            <a:custGeom>
              <a:avLst/>
              <a:gdLst/>
              <a:ahLst/>
              <a:cxnLst/>
              <a:rect r="r" b="b" t="t" l="l"/>
              <a:pathLst>
                <a:path h="53635" w="71483">
                  <a:moveTo>
                    <a:pt x="0" y="0"/>
                  </a:moveTo>
                  <a:lnTo>
                    <a:pt x="71483" y="0"/>
                  </a:lnTo>
                  <a:lnTo>
                    <a:pt x="71483" y="53635"/>
                  </a:lnTo>
                  <a:lnTo>
                    <a:pt x="0" y="53635"/>
                  </a:lnTo>
                  <a:close/>
                </a:path>
              </a:pathLst>
            </a:custGeom>
            <a:solidFill>
              <a:srgbClr val="CEECEF"/>
            </a:solid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28575"/>
              <a:ext cx="71483" cy="82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14" id="114"/>
          <p:cNvSpPr/>
          <p:nvPr/>
        </p:nvSpPr>
        <p:spPr>
          <a:xfrm>
            <a:off x="11169175" y="3618303"/>
            <a:ext cx="5617980" cy="386714"/>
          </a:xfrm>
          <a:custGeom>
            <a:avLst/>
            <a:gdLst/>
            <a:ahLst/>
            <a:cxnLst/>
            <a:rect r="r" b="b" t="t" l="l"/>
            <a:pathLst>
              <a:path h="386714" w="5617980">
                <a:moveTo>
                  <a:pt x="0" y="386714"/>
                </a:moveTo>
                <a:lnTo>
                  <a:pt x="5475105" y="386714"/>
                </a:lnTo>
                <a:cubicBezTo>
                  <a:pt x="5512997" y="386714"/>
                  <a:pt x="5549339" y="371661"/>
                  <a:pt x="5576133" y="344867"/>
                </a:cubicBezTo>
                <a:cubicBezTo>
                  <a:pt x="5602927" y="318073"/>
                  <a:pt x="5617980" y="281732"/>
                  <a:pt x="5617980" y="243839"/>
                </a:cubicBezTo>
                <a:lnTo>
                  <a:pt x="5617980" y="0"/>
                </a:lnTo>
              </a:path>
            </a:pathLst>
          </a:cu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5" id="115"/>
          <p:cNvGrpSpPr/>
          <p:nvPr/>
        </p:nvGrpSpPr>
        <p:grpSpPr>
          <a:xfrm rot="0">
            <a:off x="11169174" y="3610944"/>
            <a:ext cx="5798386" cy="1207694"/>
            <a:chOff x="0" y="0"/>
            <a:chExt cx="2728526" cy="5683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728526" cy="568300"/>
            </a:xfrm>
            <a:custGeom>
              <a:avLst/>
              <a:gdLst/>
              <a:ahLst/>
              <a:cxnLst/>
              <a:rect r="r" b="b" t="t" l="l"/>
              <a:pathLst>
                <a:path h="568300" w="2728526">
                  <a:moveTo>
                    <a:pt x="26704" y="0"/>
                  </a:moveTo>
                  <a:lnTo>
                    <a:pt x="2701822" y="0"/>
                  </a:lnTo>
                  <a:cubicBezTo>
                    <a:pt x="2708904" y="0"/>
                    <a:pt x="2715696" y="2813"/>
                    <a:pt x="2720704" y="7821"/>
                  </a:cubicBezTo>
                  <a:cubicBezTo>
                    <a:pt x="2725712" y="12829"/>
                    <a:pt x="2728526" y="19621"/>
                    <a:pt x="2728526" y="26704"/>
                  </a:cubicBezTo>
                  <a:lnTo>
                    <a:pt x="2728526" y="541596"/>
                  </a:lnTo>
                  <a:cubicBezTo>
                    <a:pt x="2728526" y="556344"/>
                    <a:pt x="2716570" y="568300"/>
                    <a:pt x="2701822" y="568300"/>
                  </a:cubicBezTo>
                  <a:lnTo>
                    <a:pt x="26704" y="568300"/>
                  </a:lnTo>
                  <a:cubicBezTo>
                    <a:pt x="11956" y="568300"/>
                    <a:pt x="0" y="556344"/>
                    <a:pt x="0" y="541596"/>
                  </a:cubicBezTo>
                  <a:lnTo>
                    <a:pt x="0" y="26704"/>
                  </a:lnTo>
                  <a:cubicBezTo>
                    <a:pt x="0" y="11956"/>
                    <a:pt x="11956" y="0"/>
                    <a:pt x="26704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7" id="117"/>
            <p:cNvSpPr txBox="true"/>
            <p:nvPr/>
          </p:nvSpPr>
          <p:spPr>
            <a:xfrm>
              <a:off x="0" y="-28575"/>
              <a:ext cx="2728526" cy="5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1811920" y="5126214"/>
            <a:ext cx="5798386" cy="1207694"/>
            <a:chOff x="0" y="0"/>
            <a:chExt cx="2728526" cy="5683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728526" cy="568300"/>
            </a:xfrm>
            <a:custGeom>
              <a:avLst/>
              <a:gdLst/>
              <a:ahLst/>
              <a:cxnLst/>
              <a:rect r="r" b="b" t="t" l="l"/>
              <a:pathLst>
                <a:path h="568300" w="2728526">
                  <a:moveTo>
                    <a:pt x="26704" y="0"/>
                  </a:moveTo>
                  <a:lnTo>
                    <a:pt x="2701822" y="0"/>
                  </a:lnTo>
                  <a:cubicBezTo>
                    <a:pt x="2708904" y="0"/>
                    <a:pt x="2715696" y="2813"/>
                    <a:pt x="2720704" y="7821"/>
                  </a:cubicBezTo>
                  <a:cubicBezTo>
                    <a:pt x="2725712" y="12829"/>
                    <a:pt x="2728526" y="19621"/>
                    <a:pt x="2728526" y="26704"/>
                  </a:cubicBezTo>
                  <a:lnTo>
                    <a:pt x="2728526" y="541596"/>
                  </a:lnTo>
                  <a:cubicBezTo>
                    <a:pt x="2728526" y="556344"/>
                    <a:pt x="2716570" y="568300"/>
                    <a:pt x="2701822" y="568300"/>
                  </a:cubicBezTo>
                  <a:lnTo>
                    <a:pt x="26704" y="568300"/>
                  </a:lnTo>
                  <a:cubicBezTo>
                    <a:pt x="11956" y="568300"/>
                    <a:pt x="0" y="556344"/>
                    <a:pt x="0" y="541596"/>
                  </a:cubicBezTo>
                  <a:lnTo>
                    <a:pt x="0" y="26704"/>
                  </a:lnTo>
                  <a:cubicBezTo>
                    <a:pt x="0" y="11956"/>
                    <a:pt x="11956" y="0"/>
                    <a:pt x="2670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0" id="120"/>
            <p:cNvSpPr txBox="true"/>
            <p:nvPr/>
          </p:nvSpPr>
          <p:spPr>
            <a:xfrm>
              <a:off x="0" y="-28575"/>
              <a:ext cx="2728526" cy="5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1819152" y="5133573"/>
            <a:ext cx="5610749" cy="386714"/>
            <a:chOff x="0" y="0"/>
            <a:chExt cx="2640230" cy="181975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640230" cy="181975"/>
            </a:xfrm>
            <a:custGeom>
              <a:avLst/>
              <a:gdLst/>
              <a:ahLst/>
              <a:cxnLst/>
              <a:rect r="r" b="b" t="t" l="l"/>
              <a:pathLst>
                <a:path h="181975" w="2640230">
                  <a:moveTo>
                    <a:pt x="30356" y="0"/>
                  </a:moveTo>
                  <a:lnTo>
                    <a:pt x="2609873" y="0"/>
                  </a:lnTo>
                  <a:cubicBezTo>
                    <a:pt x="2617925" y="0"/>
                    <a:pt x="2625646" y="3198"/>
                    <a:pt x="2631339" y="8891"/>
                  </a:cubicBezTo>
                  <a:cubicBezTo>
                    <a:pt x="2637032" y="14584"/>
                    <a:pt x="2640230" y="22305"/>
                    <a:pt x="2640230" y="30356"/>
                  </a:cubicBezTo>
                  <a:lnTo>
                    <a:pt x="2640230" y="151618"/>
                  </a:lnTo>
                  <a:cubicBezTo>
                    <a:pt x="2640230" y="159669"/>
                    <a:pt x="2637032" y="167391"/>
                    <a:pt x="2631339" y="173084"/>
                  </a:cubicBezTo>
                  <a:cubicBezTo>
                    <a:pt x="2625646" y="178777"/>
                    <a:pt x="2617925" y="181975"/>
                    <a:pt x="2609873" y="181975"/>
                  </a:cubicBezTo>
                  <a:lnTo>
                    <a:pt x="30356" y="181975"/>
                  </a:lnTo>
                  <a:cubicBezTo>
                    <a:pt x="22305" y="181975"/>
                    <a:pt x="14584" y="178777"/>
                    <a:pt x="8891" y="173084"/>
                  </a:cubicBezTo>
                  <a:cubicBezTo>
                    <a:pt x="3198" y="167391"/>
                    <a:pt x="0" y="159669"/>
                    <a:pt x="0" y="151618"/>
                  </a:cubicBezTo>
                  <a:lnTo>
                    <a:pt x="0" y="30356"/>
                  </a:lnTo>
                  <a:cubicBezTo>
                    <a:pt x="0" y="22305"/>
                    <a:pt x="3198" y="14584"/>
                    <a:pt x="8891" y="8891"/>
                  </a:cubicBezTo>
                  <a:cubicBezTo>
                    <a:pt x="14584" y="3198"/>
                    <a:pt x="22305" y="0"/>
                    <a:pt x="30356" y="0"/>
                  </a:cubicBezTo>
                  <a:close/>
                </a:path>
              </a:pathLst>
            </a:custGeom>
            <a:solidFill>
              <a:srgbClr val="FFE6B8"/>
            </a:solid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28575"/>
              <a:ext cx="2640230" cy="21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7277992" y="5133573"/>
            <a:ext cx="151909" cy="122976"/>
            <a:chOff x="0" y="0"/>
            <a:chExt cx="71483" cy="5786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71483" cy="57868"/>
            </a:xfrm>
            <a:custGeom>
              <a:avLst/>
              <a:gdLst/>
              <a:ahLst/>
              <a:cxnLst/>
              <a:rect r="r" b="b" t="t" l="l"/>
              <a:pathLst>
                <a:path h="57868" w="71483">
                  <a:moveTo>
                    <a:pt x="0" y="0"/>
                  </a:moveTo>
                  <a:lnTo>
                    <a:pt x="71483" y="0"/>
                  </a:lnTo>
                  <a:lnTo>
                    <a:pt x="71483" y="57868"/>
                  </a:lnTo>
                  <a:lnTo>
                    <a:pt x="0" y="57868"/>
                  </a:lnTo>
                  <a:close/>
                </a:path>
              </a:pathLst>
            </a:custGeom>
            <a:solidFill>
              <a:srgbClr val="FFE6B8"/>
            </a:solid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28575"/>
              <a:ext cx="71483" cy="864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1819152" y="5406307"/>
            <a:ext cx="151909" cy="113979"/>
            <a:chOff x="0" y="0"/>
            <a:chExt cx="71483" cy="53635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71483" cy="53635"/>
            </a:xfrm>
            <a:custGeom>
              <a:avLst/>
              <a:gdLst/>
              <a:ahLst/>
              <a:cxnLst/>
              <a:rect r="r" b="b" t="t" l="l"/>
              <a:pathLst>
                <a:path h="53635" w="71483">
                  <a:moveTo>
                    <a:pt x="0" y="0"/>
                  </a:moveTo>
                  <a:lnTo>
                    <a:pt x="71483" y="0"/>
                  </a:lnTo>
                  <a:lnTo>
                    <a:pt x="71483" y="53635"/>
                  </a:lnTo>
                  <a:lnTo>
                    <a:pt x="0" y="53635"/>
                  </a:lnTo>
                  <a:close/>
                </a:path>
              </a:pathLst>
            </a:custGeom>
            <a:solidFill>
              <a:srgbClr val="FFE6B8"/>
            </a:solid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28575"/>
              <a:ext cx="71483" cy="82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130" id="130"/>
          <p:cNvSpPr/>
          <p:nvPr/>
        </p:nvSpPr>
        <p:spPr>
          <a:xfrm>
            <a:off x="11811920" y="5133573"/>
            <a:ext cx="5617980" cy="386714"/>
          </a:xfrm>
          <a:custGeom>
            <a:avLst/>
            <a:gdLst/>
            <a:ahLst/>
            <a:cxnLst/>
            <a:rect r="r" b="b" t="t" l="l"/>
            <a:pathLst>
              <a:path h="386714" w="5617980">
                <a:moveTo>
                  <a:pt x="0" y="386714"/>
                </a:moveTo>
                <a:lnTo>
                  <a:pt x="5475105" y="386714"/>
                </a:lnTo>
                <a:cubicBezTo>
                  <a:pt x="5554014" y="386714"/>
                  <a:pt x="5617980" y="322747"/>
                  <a:pt x="5617980" y="243839"/>
                </a:cubicBezTo>
                <a:lnTo>
                  <a:pt x="5617980" y="0"/>
                </a:lnTo>
              </a:path>
            </a:pathLst>
          </a:cu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1" id="131"/>
          <p:cNvGrpSpPr/>
          <p:nvPr/>
        </p:nvGrpSpPr>
        <p:grpSpPr>
          <a:xfrm rot="0">
            <a:off x="11811920" y="5126214"/>
            <a:ext cx="5798386" cy="1207694"/>
            <a:chOff x="0" y="0"/>
            <a:chExt cx="2728526" cy="5683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728526" cy="568300"/>
            </a:xfrm>
            <a:custGeom>
              <a:avLst/>
              <a:gdLst/>
              <a:ahLst/>
              <a:cxnLst/>
              <a:rect r="r" b="b" t="t" l="l"/>
              <a:pathLst>
                <a:path h="568300" w="2728526">
                  <a:moveTo>
                    <a:pt x="26704" y="0"/>
                  </a:moveTo>
                  <a:lnTo>
                    <a:pt x="2701822" y="0"/>
                  </a:lnTo>
                  <a:cubicBezTo>
                    <a:pt x="2708904" y="0"/>
                    <a:pt x="2715696" y="2813"/>
                    <a:pt x="2720704" y="7821"/>
                  </a:cubicBezTo>
                  <a:cubicBezTo>
                    <a:pt x="2725712" y="12829"/>
                    <a:pt x="2728526" y="19621"/>
                    <a:pt x="2728526" y="26704"/>
                  </a:cubicBezTo>
                  <a:lnTo>
                    <a:pt x="2728526" y="541596"/>
                  </a:lnTo>
                  <a:cubicBezTo>
                    <a:pt x="2728526" y="556344"/>
                    <a:pt x="2716570" y="568300"/>
                    <a:pt x="2701822" y="568300"/>
                  </a:cubicBezTo>
                  <a:lnTo>
                    <a:pt x="26704" y="568300"/>
                  </a:lnTo>
                  <a:cubicBezTo>
                    <a:pt x="11956" y="568300"/>
                    <a:pt x="0" y="556344"/>
                    <a:pt x="0" y="541596"/>
                  </a:cubicBezTo>
                  <a:lnTo>
                    <a:pt x="0" y="26704"/>
                  </a:lnTo>
                  <a:cubicBezTo>
                    <a:pt x="0" y="11956"/>
                    <a:pt x="11956" y="0"/>
                    <a:pt x="26704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3" id="133"/>
            <p:cNvSpPr txBox="true"/>
            <p:nvPr/>
          </p:nvSpPr>
          <p:spPr>
            <a:xfrm>
              <a:off x="0" y="-28575"/>
              <a:ext cx="2728526" cy="596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4" id="134"/>
          <p:cNvSpPr/>
          <p:nvPr/>
        </p:nvSpPr>
        <p:spPr>
          <a:xfrm>
            <a:off x="9251686" y="1477956"/>
            <a:ext cx="1274742" cy="1221565"/>
          </a:xfrm>
          <a:custGeom>
            <a:avLst/>
            <a:gdLst/>
            <a:ahLst/>
            <a:cxnLst/>
            <a:rect r="r" b="b" t="t" l="l"/>
            <a:pathLst>
              <a:path h="1221565" w="1274742">
                <a:moveTo>
                  <a:pt x="1274743" y="1221565"/>
                </a:moveTo>
                <a:lnTo>
                  <a:pt x="180975" y="1221565"/>
                </a:lnTo>
                <a:cubicBezTo>
                  <a:pt x="81026" y="1221565"/>
                  <a:pt x="0" y="1140540"/>
                  <a:pt x="0" y="1040590"/>
                </a:cubicBezTo>
                <a:lnTo>
                  <a:pt x="0" y="180975"/>
                </a:lnTo>
                <a:cubicBezTo>
                  <a:pt x="0" y="132977"/>
                  <a:pt x="19068" y="86946"/>
                  <a:pt x="53007" y="53006"/>
                </a:cubicBezTo>
                <a:cubicBezTo>
                  <a:pt x="86946" y="19067"/>
                  <a:pt x="132978" y="0"/>
                  <a:pt x="180975" y="0"/>
                </a:cubicBezTo>
                <a:lnTo>
                  <a:pt x="860866" y="0"/>
                </a:lnTo>
              </a:path>
            </a:pathLst>
          </a:cu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5" id="135"/>
          <p:cNvSpPr txBox="true"/>
          <p:nvPr/>
        </p:nvSpPr>
        <p:spPr>
          <a:xfrm rot="0">
            <a:off x="10533660" y="2571195"/>
            <a:ext cx="5791154" cy="734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0896" indent="-155448" lvl="1">
              <a:lnSpc>
                <a:spcPts val="2015"/>
              </a:lnSpc>
              <a:buFont typeface="Arial"/>
              <a:buChar char="•"/>
            </a:pPr>
            <a:r>
              <a:rPr lang="en-US" b="true" sz="1439">
                <a:solidFill>
                  <a:srgbClr val="000000"/>
                </a:solidFill>
                <a:latin typeface="Canva Sans 1 Medium"/>
                <a:ea typeface="Canva Sans 1 Medium"/>
                <a:cs typeface="Canva Sans 1 Medium"/>
                <a:sym typeface="Canva Sans 1 Medium"/>
              </a:rPr>
              <a:t>Not just obfuscation-a complete custom compilation pipeline</a:t>
            </a:r>
          </a:p>
          <a:p>
            <a:pPr algn="l" marL="310896" indent="-155448" lvl="1">
              <a:lnSpc>
                <a:spcPts val="2015"/>
              </a:lnSpc>
              <a:buFont typeface="Arial"/>
              <a:buChar char="•"/>
            </a:pPr>
            <a:r>
              <a:rPr lang="en-US" b="true" sz="1439">
                <a:solidFill>
                  <a:srgbClr val="000000"/>
                </a:solidFill>
                <a:latin typeface="Canva Sans 1 Medium"/>
                <a:ea typeface="Canva Sans 1 Medium"/>
                <a:cs typeface="Canva Sans 1 Medium"/>
                <a:sym typeface="Canva Sans 1 Medium"/>
              </a:rPr>
              <a:t>From source to binary: every stage introduces uniqueness</a:t>
            </a:r>
          </a:p>
          <a:p>
            <a:pPr algn="l" marL="0" indent="0" lvl="0">
              <a:lnSpc>
                <a:spcPts val="2015"/>
              </a:lnSpc>
              <a:spcBef>
                <a:spcPct val="0"/>
              </a:spcBef>
            </a:pPr>
          </a:p>
        </p:txBody>
      </p:sp>
      <p:sp>
        <p:nvSpPr>
          <p:cNvPr name="TextBox 136" id="136"/>
          <p:cNvSpPr txBox="true"/>
          <p:nvPr/>
        </p:nvSpPr>
        <p:spPr>
          <a:xfrm rot="0">
            <a:off x="11179167" y="4052034"/>
            <a:ext cx="5788394" cy="73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1744" indent="-155872" lvl="1">
              <a:lnSpc>
                <a:spcPts val="202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43" strike="noStrike" u="none">
                <a:solidFill>
                  <a:srgbClr val="000000"/>
                </a:solidFill>
                <a:latin typeface="Canva Sans 1 Medium"/>
                <a:ea typeface="Canva Sans 1 Medium"/>
                <a:cs typeface="Canva Sans 1 Medium"/>
                <a:sym typeface="Canva Sans 1 Medium"/>
              </a:rPr>
              <a:t>Manual packing is obsolete; every build is automatically unique</a:t>
            </a:r>
          </a:p>
          <a:p>
            <a:pPr algn="l" marL="311744" indent="-155872" lvl="1">
              <a:lnSpc>
                <a:spcPts val="202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43" strike="noStrike" u="none">
                <a:solidFill>
                  <a:srgbClr val="000000"/>
                </a:solidFill>
                <a:latin typeface="Canva Sans 1 Medium"/>
                <a:ea typeface="Canva Sans 1 Medium"/>
                <a:cs typeface="Canva Sans 1 Medium"/>
                <a:sym typeface="Canva Sans 1 Medium"/>
              </a:rPr>
              <a:t>Integrated obfuscators + encryption + polymorphic engines</a:t>
            </a:r>
          </a:p>
        </p:txBody>
      </p:sp>
      <p:sp>
        <p:nvSpPr>
          <p:cNvPr name="Freeform 137" id="137"/>
          <p:cNvSpPr/>
          <p:nvPr/>
        </p:nvSpPr>
        <p:spPr>
          <a:xfrm>
            <a:off x="9897193" y="2691931"/>
            <a:ext cx="1281974" cy="1548663"/>
          </a:xfrm>
          <a:custGeom>
            <a:avLst/>
            <a:gdLst/>
            <a:ahLst/>
            <a:cxnLst/>
            <a:rect r="r" b="b" t="t" l="l"/>
            <a:pathLst>
              <a:path h="1548663" w="1281974">
                <a:moveTo>
                  <a:pt x="1281973" y="1548663"/>
                </a:moveTo>
                <a:lnTo>
                  <a:pt x="180975" y="1548663"/>
                </a:lnTo>
                <a:cubicBezTo>
                  <a:pt x="132977" y="1548663"/>
                  <a:pt x="86946" y="1529596"/>
                  <a:pt x="53006" y="1495656"/>
                </a:cubicBezTo>
                <a:cubicBezTo>
                  <a:pt x="19067" y="1461717"/>
                  <a:pt x="0" y="1415685"/>
                  <a:pt x="0" y="1367688"/>
                </a:cubicBezTo>
                <a:lnTo>
                  <a:pt x="0" y="0"/>
                </a:lnTo>
              </a:path>
            </a:pathLst>
          </a:cu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8" id="138"/>
          <p:cNvSpPr/>
          <p:nvPr/>
        </p:nvSpPr>
        <p:spPr>
          <a:xfrm>
            <a:off x="10529947" y="4240594"/>
            <a:ext cx="1281973" cy="1489467"/>
          </a:xfrm>
          <a:custGeom>
            <a:avLst/>
            <a:gdLst/>
            <a:ahLst/>
            <a:cxnLst/>
            <a:rect r="r" b="b" t="t" l="l"/>
            <a:pathLst>
              <a:path h="1489467" w="1281973">
                <a:moveTo>
                  <a:pt x="1281973" y="1489467"/>
                </a:moveTo>
                <a:lnTo>
                  <a:pt x="180975" y="1489467"/>
                </a:lnTo>
                <a:cubicBezTo>
                  <a:pt x="81025" y="1489467"/>
                  <a:pt x="0" y="1408442"/>
                  <a:pt x="0" y="1308492"/>
                </a:cubicBezTo>
                <a:lnTo>
                  <a:pt x="0" y="0"/>
                </a:lnTo>
              </a:path>
            </a:pathLst>
          </a:cu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9" id="139"/>
          <p:cNvGrpSpPr/>
          <p:nvPr/>
        </p:nvGrpSpPr>
        <p:grpSpPr>
          <a:xfrm rot="0">
            <a:off x="10059579" y="1432049"/>
            <a:ext cx="105945" cy="87865"/>
            <a:chOff x="0" y="0"/>
            <a:chExt cx="980049" cy="8128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980049" cy="812800"/>
            </a:xfrm>
            <a:custGeom>
              <a:avLst/>
              <a:gdLst/>
              <a:ahLst/>
              <a:cxnLst/>
              <a:rect r="r" b="b" t="t" l="l"/>
              <a:pathLst>
                <a:path h="812800" w="980049">
                  <a:moveTo>
                    <a:pt x="490024" y="0"/>
                  </a:moveTo>
                  <a:cubicBezTo>
                    <a:pt x="219391" y="0"/>
                    <a:pt x="0" y="181951"/>
                    <a:pt x="0" y="406400"/>
                  </a:cubicBezTo>
                  <a:cubicBezTo>
                    <a:pt x="0" y="630849"/>
                    <a:pt x="219391" y="812800"/>
                    <a:pt x="490024" y="812800"/>
                  </a:cubicBezTo>
                  <a:cubicBezTo>
                    <a:pt x="760657" y="812800"/>
                    <a:pt x="980049" y="630849"/>
                    <a:pt x="980049" y="406400"/>
                  </a:cubicBezTo>
                  <a:cubicBezTo>
                    <a:pt x="980049" y="181951"/>
                    <a:pt x="760657" y="0"/>
                    <a:pt x="490024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1" id="141"/>
            <p:cNvSpPr txBox="true"/>
            <p:nvPr/>
          </p:nvSpPr>
          <p:spPr>
            <a:xfrm>
              <a:off x="91880" y="47625"/>
              <a:ext cx="79629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42" id="142"/>
          <p:cNvSpPr txBox="true"/>
          <p:nvPr/>
        </p:nvSpPr>
        <p:spPr>
          <a:xfrm rot="0">
            <a:off x="10685569" y="2162609"/>
            <a:ext cx="4894700" cy="246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38"/>
              </a:lnSpc>
              <a:spcBef>
                <a:spcPct val="0"/>
              </a:spcBef>
            </a:pPr>
            <a:r>
              <a:rPr lang="en-US" b="true" sz="1456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FIRST-OF-ITS-KIND LANGUAGE FRAMEWORK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1328315" y="3677879"/>
            <a:ext cx="4469467" cy="501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56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AUTOMATED POLYMORPHISM VIA CI/CD</a:t>
            </a:r>
          </a:p>
          <a:p>
            <a:pPr algn="l" marL="0" indent="0" lvl="0">
              <a:lnSpc>
                <a:spcPts val="2038"/>
              </a:lnSpc>
              <a:spcBef>
                <a:spcPct val="0"/>
              </a:spcBef>
            </a:pPr>
          </a:p>
        </p:txBody>
      </p:sp>
      <p:sp>
        <p:nvSpPr>
          <p:cNvPr name="TextBox 144" id="144"/>
          <p:cNvSpPr txBox="true"/>
          <p:nvPr/>
        </p:nvSpPr>
        <p:spPr>
          <a:xfrm rot="0">
            <a:off x="11971061" y="5193149"/>
            <a:ext cx="4275965" cy="501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456" b="true">
                <a:solidFill>
                  <a:srgbClr val="000000"/>
                </a:solidFill>
                <a:latin typeface="Canva Sans 1 Bold"/>
                <a:ea typeface="Canva Sans 1 Bold"/>
                <a:cs typeface="Canva Sans 1 Bold"/>
                <a:sym typeface="Canva Sans 1 Bold"/>
              </a:rPr>
              <a:t>DUAL-LAYER EVASION: USER + KERNEL</a:t>
            </a:r>
          </a:p>
          <a:p>
            <a:pPr algn="l" marL="0" indent="0" lvl="0">
              <a:lnSpc>
                <a:spcPts val="2038"/>
              </a:lnSpc>
              <a:spcBef>
                <a:spcPct val="0"/>
              </a:spcBef>
            </a:pPr>
          </a:p>
        </p:txBody>
      </p:sp>
      <p:sp>
        <p:nvSpPr>
          <p:cNvPr name="TextBox 145" id="145"/>
          <p:cNvSpPr txBox="true"/>
          <p:nvPr/>
        </p:nvSpPr>
        <p:spPr>
          <a:xfrm rot="0">
            <a:off x="11819152" y="5629986"/>
            <a:ext cx="5791154" cy="48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0896" indent="-155448" lvl="1">
              <a:lnSpc>
                <a:spcPts val="201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39" strike="noStrike" u="none">
                <a:solidFill>
                  <a:srgbClr val="000000"/>
                </a:solidFill>
                <a:latin typeface="Canva Sans 1 Medium"/>
                <a:ea typeface="Canva Sans 1 Medium"/>
                <a:cs typeface="Canva Sans 1 Medium"/>
                <a:sym typeface="Canva Sans 1 Medium"/>
              </a:rPr>
              <a:t>User-mode: in-memory execution, API unhooking</a:t>
            </a:r>
          </a:p>
          <a:p>
            <a:pPr algn="l" marL="310896" indent="-155448" lvl="1">
              <a:lnSpc>
                <a:spcPts val="201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439" strike="noStrike" u="none">
                <a:solidFill>
                  <a:srgbClr val="000000"/>
                </a:solidFill>
                <a:latin typeface="Canva Sans 1 Medium"/>
                <a:ea typeface="Canva Sans 1 Medium"/>
                <a:cs typeface="Canva Sans 1 Medium"/>
                <a:sym typeface="Canva Sans 1 Medium"/>
              </a:rPr>
              <a:t>Kernel-mode: BYOVD, driver-level subversion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2075" y="2248"/>
            <a:ext cx="11480886" cy="1195926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21945600" cy="2286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TECHNICAL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462594" y="9708590"/>
            <a:ext cx="2911006" cy="373622"/>
            <a:chOff x="0" y="0"/>
            <a:chExt cx="5689600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683601" y="2248"/>
            <a:ext cx="2361302" cy="1114962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88851" y="1650006"/>
            <a:ext cx="17979332" cy="2809893"/>
            <a:chOff x="0" y="0"/>
            <a:chExt cx="23972442" cy="3746524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3972442" cy="3746524"/>
              <a:chOff x="0" y="0"/>
              <a:chExt cx="4735297" cy="74005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735297" cy="740054"/>
              </a:xfrm>
              <a:custGeom>
                <a:avLst/>
                <a:gdLst/>
                <a:ahLst/>
                <a:cxnLst/>
                <a:rect r="r" b="b" t="t" l="l"/>
                <a:pathLst>
                  <a:path h="740054" w="4735297">
                    <a:moveTo>
                      <a:pt x="7680" y="0"/>
                    </a:moveTo>
                    <a:lnTo>
                      <a:pt x="4727618" y="0"/>
                    </a:lnTo>
                    <a:cubicBezTo>
                      <a:pt x="4731859" y="0"/>
                      <a:pt x="4735297" y="3438"/>
                      <a:pt x="4735297" y="7680"/>
                    </a:cubicBezTo>
                    <a:lnTo>
                      <a:pt x="4735297" y="732374"/>
                    </a:lnTo>
                    <a:cubicBezTo>
                      <a:pt x="4735297" y="736616"/>
                      <a:pt x="4731859" y="740054"/>
                      <a:pt x="4727618" y="740054"/>
                    </a:cubicBezTo>
                    <a:lnTo>
                      <a:pt x="7680" y="740054"/>
                    </a:lnTo>
                    <a:cubicBezTo>
                      <a:pt x="3438" y="740054"/>
                      <a:pt x="0" y="736616"/>
                      <a:pt x="0" y="732374"/>
                    </a:cubicBezTo>
                    <a:lnTo>
                      <a:pt x="0" y="7680"/>
                    </a:lnTo>
                    <a:cubicBezTo>
                      <a:pt x="0" y="3438"/>
                      <a:pt x="3438" y="0"/>
                      <a:pt x="7680" y="0"/>
                    </a:cubicBezTo>
                    <a:close/>
                  </a:path>
                </a:pathLst>
              </a:custGeom>
              <a:solidFill>
                <a:srgbClr val="B2BCC5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19050"/>
                <a:ext cx="4735297" cy="759104"/>
              </a:xfrm>
              <a:prstGeom prst="rect">
                <a:avLst/>
              </a:prstGeom>
            </p:spPr>
            <p:txBody>
              <a:bodyPr anchor="ctr" rtlCol="false" tIns="56968" lIns="56968" bIns="56968" rIns="56968"/>
              <a:lstStyle/>
              <a:p>
                <a:pPr algn="ctr">
                  <a:lnSpc>
                    <a:spcPts val="1905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02636" y="817971"/>
              <a:ext cx="3922717" cy="2059781"/>
              <a:chOff x="0" y="0"/>
              <a:chExt cx="622439" cy="32683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22439" cy="326837"/>
              </a:xfrm>
              <a:custGeom>
                <a:avLst/>
                <a:gdLst/>
                <a:ahLst/>
                <a:cxnLst/>
                <a:rect r="r" b="b" t="t" l="l"/>
                <a:pathLst>
                  <a:path h="326837" w="622439">
                    <a:moveTo>
                      <a:pt x="72743" y="0"/>
                    </a:moveTo>
                    <a:lnTo>
                      <a:pt x="549696" y="0"/>
                    </a:lnTo>
                    <a:cubicBezTo>
                      <a:pt x="589871" y="0"/>
                      <a:pt x="622439" y="32568"/>
                      <a:pt x="622439" y="72743"/>
                    </a:cubicBezTo>
                    <a:lnTo>
                      <a:pt x="622439" y="254094"/>
                    </a:lnTo>
                    <a:cubicBezTo>
                      <a:pt x="622439" y="273386"/>
                      <a:pt x="614775" y="291889"/>
                      <a:pt x="601133" y="305531"/>
                    </a:cubicBezTo>
                    <a:cubicBezTo>
                      <a:pt x="587491" y="319173"/>
                      <a:pt x="568989" y="326837"/>
                      <a:pt x="549696" y="326837"/>
                    </a:cubicBezTo>
                    <a:lnTo>
                      <a:pt x="72743" y="326837"/>
                    </a:lnTo>
                    <a:cubicBezTo>
                      <a:pt x="32568" y="326837"/>
                      <a:pt x="0" y="294269"/>
                      <a:pt x="0" y="254094"/>
                    </a:cubicBezTo>
                    <a:lnTo>
                      <a:pt x="0" y="72743"/>
                    </a:lnTo>
                    <a:cubicBezTo>
                      <a:pt x="0" y="53451"/>
                      <a:pt x="7664" y="34948"/>
                      <a:pt x="21306" y="21306"/>
                    </a:cubicBezTo>
                    <a:cubicBezTo>
                      <a:pt x="34948" y="7664"/>
                      <a:pt x="53451" y="0"/>
                      <a:pt x="72743" y="0"/>
                    </a:cubicBezTo>
                    <a:close/>
                  </a:path>
                </a:pathLst>
              </a:custGeom>
              <a:solidFill>
                <a:srgbClr val="FCEED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622439" cy="345887"/>
              </a:xfrm>
              <a:prstGeom prst="rect">
                <a:avLst/>
              </a:prstGeom>
            </p:spPr>
            <p:txBody>
              <a:bodyPr anchor="ctr" rtlCol="false" tIns="50073" lIns="50073" bIns="50073" rIns="50073"/>
              <a:lstStyle/>
              <a:p>
                <a:pPr algn="ctr">
                  <a:lnSpc>
                    <a:spcPts val="1905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460797" y="1064370"/>
              <a:ext cx="3426987" cy="1495531"/>
              <a:chOff x="0" y="0"/>
              <a:chExt cx="958874" cy="41845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58874" cy="418451"/>
              </a:xfrm>
              <a:custGeom>
                <a:avLst/>
                <a:gdLst/>
                <a:ahLst/>
                <a:cxnLst/>
                <a:rect r="r" b="b" t="t" l="l"/>
                <a:pathLst>
                  <a:path h="418451" w="958874">
                    <a:moveTo>
                      <a:pt x="53720" y="0"/>
                    </a:moveTo>
                    <a:lnTo>
                      <a:pt x="905154" y="0"/>
                    </a:lnTo>
                    <a:cubicBezTo>
                      <a:pt x="919402" y="0"/>
                      <a:pt x="933065" y="5660"/>
                      <a:pt x="943140" y="15734"/>
                    </a:cubicBezTo>
                    <a:cubicBezTo>
                      <a:pt x="953214" y="25809"/>
                      <a:pt x="958874" y="39473"/>
                      <a:pt x="958874" y="53720"/>
                    </a:cubicBezTo>
                    <a:lnTo>
                      <a:pt x="958874" y="364731"/>
                    </a:lnTo>
                    <a:cubicBezTo>
                      <a:pt x="958874" y="394400"/>
                      <a:pt x="934823" y="418451"/>
                      <a:pt x="905154" y="418451"/>
                    </a:cubicBezTo>
                    <a:lnTo>
                      <a:pt x="53720" y="418451"/>
                    </a:lnTo>
                    <a:cubicBezTo>
                      <a:pt x="39473" y="418451"/>
                      <a:pt x="25809" y="412791"/>
                      <a:pt x="15734" y="402717"/>
                    </a:cubicBezTo>
                    <a:cubicBezTo>
                      <a:pt x="5660" y="392642"/>
                      <a:pt x="0" y="378979"/>
                      <a:pt x="0" y="364731"/>
                    </a:cubicBezTo>
                    <a:lnTo>
                      <a:pt x="0" y="53720"/>
                    </a:lnTo>
                    <a:cubicBezTo>
                      <a:pt x="0" y="39473"/>
                      <a:pt x="5660" y="25809"/>
                      <a:pt x="15734" y="15734"/>
                    </a:cubicBezTo>
                    <a:cubicBezTo>
                      <a:pt x="25809" y="5660"/>
                      <a:pt x="39473" y="0"/>
                      <a:pt x="53720" y="0"/>
                    </a:cubicBezTo>
                    <a:close/>
                  </a:path>
                </a:pathLst>
              </a:custGeom>
              <a:solidFill>
                <a:srgbClr val="FF3131">
                  <a:alpha val="16863"/>
                </a:srgbClr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9050"/>
                <a:ext cx="958874" cy="437501"/>
              </a:xfrm>
              <a:prstGeom prst="rect">
                <a:avLst/>
              </a:prstGeom>
            </p:spPr>
            <p:txBody>
              <a:bodyPr anchor="ctr" rtlCol="false" tIns="48891" lIns="48891" bIns="48891" rIns="48891"/>
              <a:lstStyle/>
              <a:p>
                <a:pPr algn="ctr">
                  <a:lnSpc>
                    <a:spcPts val="1905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878103" y="1309292"/>
              <a:ext cx="1047457" cy="987228"/>
            </a:xfrm>
            <a:custGeom>
              <a:avLst/>
              <a:gdLst/>
              <a:ahLst/>
              <a:cxnLst/>
              <a:rect r="r" b="b" t="t" l="l"/>
              <a:pathLst>
                <a:path h="987228" w="1047457">
                  <a:moveTo>
                    <a:pt x="0" y="0"/>
                  </a:moveTo>
                  <a:lnTo>
                    <a:pt x="1047457" y="0"/>
                  </a:lnTo>
                  <a:lnTo>
                    <a:pt x="1047457" y="987228"/>
                  </a:lnTo>
                  <a:lnTo>
                    <a:pt x="0" y="987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925560" y="1519623"/>
              <a:ext cx="1532563" cy="598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42"/>
                </a:lnSpc>
                <a:spcBef>
                  <a:spcPct val="0"/>
                </a:spcBef>
              </a:pPr>
              <a:r>
                <a:rPr lang="en-US" b="true" sz="145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Source Code (.jky)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315091" y="199878"/>
              <a:ext cx="4694131" cy="4539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66"/>
                </a:lnSpc>
                <a:spcBef>
                  <a:spcPct val="0"/>
                </a:spcBef>
              </a:pPr>
              <a:r>
                <a:rPr lang="en-US" b="true" sz="2222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</a:t>
              </a:r>
              <a:r>
                <a:rPr lang="en-US" sz="2222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COMPILATION</a:t>
              </a:r>
              <a:r>
                <a:rPr lang="en-US" b="true" sz="2222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 PIPELINE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4931748" y="817971"/>
              <a:ext cx="3922717" cy="2059781"/>
              <a:chOff x="0" y="0"/>
              <a:chExt cx="622439" cy="32683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22439" cy="326837"/>
              </a:xfrm>
              <a:custGeom>
                <a:avLst/>
                <a:gdLst/>
                <a:ahLst/>
                <a:cxnLst/>
                <a:rect r="r" b="b" t="t" l="l"/>
                <a:pathLst>
                  <a:path h="326837" w="622439">
                    <a:moveTo>
                      <a:pt x="72743" y="0"/>
                    </a:moveTo>
                    <a:lnTo>
                      <a:pt x="549696" y="0"/>
                    </a:lnTo>
                    <a:cubicBezTo>
                      <a:pt x="589871" y="0"/>
                      <a:pt x="622439" y="32568"/>
                      <a:pt x="622439" y="72743"/>
                    </a:cubicBezTo>
                    <a:lnTo>
                      <a:pt x="622439" y="254094"/>
                    </a:lnTo>
                    <a:cubicBezTo>
                      <a:pt x="622439" y="273386"/>
                      <a:pt x="614775" y="291889"/>
                      <a:pt x="601133" y="305531"/>
                    </a:cubicBezTo>
                    <a:cubicBezTo>
                      <a:pt x="587491" y="319173"/>
                      <a:pt x="568989" y="326837"/>
                      <a:pt x="549696" y="326837"/>
                    </a:cubicBezTo>
                    <a:lnTo>
                      <a:pt x="72743" y="326837"/>
                    </a:lnTo>
                    <a:cubicBezTo>
                      <a:pt x="32568" y="326837"/>
                      <a:pt x="0" y="294269"/>
                      <a:pt x="0" y="254094"/>
                    </a:cubicBezTo>
                    <a:lnTo>
                      <a:pt x="0" y="72743"/>
                    </a:lnTo>
                    <a:cubicBezTo>
                      <a:pt x="0" y="53451"/>
                      <a:pt x="7664" y="34948"/>
                      <a:pt x="21306" y="21306"/>
                    </a:cubicBezTo>
                    <a:cubicBezTo>
                      <a:pt x="34948" y="7664"/>
                      <a:pt x="53451" y="0"/>
                      <a:pt x="72743" y="0"/>
                    </a:cubicBezTo>
                    <a:close/>
                  </a:path>
                </a:pathLst>
              </a:custGeom>
              <a:solidFill>
                <a:srgbClr val="FCEED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19050"/>
                <a:ext cx="622439" cy="345887"/>
              </a:xfrm>
              <a:prstGeom prst="rect">
                <a:avLst/>
              </a:prstGeom>
            </p:spPr>
            <p:txBody>
              <a:bodyPr anchor="ctr" rtlCol="false" tIns="50073" lIns="50073" bIns="50073" rIns="50073"/>
              <a:lstStyle/>
              <a:p>
                <a:pPr algn="ctr">
                  <a:lnSpc>
                    <a:spcPts val="1905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5189909" y="1064370"/>
              <a:ext cx="3426987" cy="1495531"/>
              <a:chOff x="0" y="0"/>
              <a:chExt cx="958874" cy="41845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58874" cy="418451"/>
              </a:xfrm>
              <a:custGeom>
                <a:avLst/>
                <a:gdLst/>
                <a:ahLst/>
                <a:cxnLst/>
                <a:rect r="r" b="b" t="t" l="l"/>
                <a:pathLst>
                  <a:path h="418451" w="958874">
                    <a:moveTo>
                      <a:pt x="53720" y="0"/>
                    </a:moveTo>
                    <a:lnTo>
                      <a:pt x="905154" y="0"/>
                    </a:lnTo>
                    <a:cubicBezTo>
                      <a:pt x="919402" y="0"/>
                      <a:pt x="933065" y="5660"/>
                      <a:pt x="943140" y="15734"/>
                    </a:cubicBezTo>
                    <a:cubicBezTo>
                      <a:pt x="953214" y="25809"/>
                      <a:pt x="958874" y="39473"/>
                      <a:pt x="958874" y="53720"/>
                    </a:cubicBezTo>
                    <a:lnTo>
                      <a:pt x="958874" y="364731"/>
                    </a:lnTo>
                    <a:cubicBezTo>
                      <a:pt x="958874" y="394400"/>
                      <a:pt x="934823" y="418451"/>
                      <a:pt x="905154" y="418451"/>
                    </a:cubicBezTo>
                    <a:lnTo>
                      <a:pt x="53720" y="418451"/>
                    </a:lnTo>
                    <a:cubicBezTo>
                      <a:pt x="39473" y="418451"/>
                      <a:pt x="25809" y="412791"/>
                      <a:pt x="15734" y="402717"/>
                    </a:cubicBezTo>
                    <a:cubicBezTo>
                      <a:pt x="5660" y="392642"/>
                      <a:pt x="0" y="378979"/>
                      <a:pt x="0" y="364731"/>
                    </a:cubicBezTo>
                    <a:lnTo>
                      <a:pt x="0" y="53720"/>
                    </a:lnTo>
                    <a:cubicBezTo>
                      <a:pt x="0" y="39473"/>
                      <a:pt x="5660" y="25809"/>
                      <a:pt x="15734" y="15734"/>
                    </a:cubicBezTo>
                    <a:cubicBezTo>
                      <a:pt x="25809" y="5660"/>
                      <a:pt x="39473" y="0"/>
                      <a:pt x="53720" y="0"/>
                    </a:cubicBezTo>
                    <a:close/>
                  </a:path>
                </a:pathLst>
              </a:custGeom>
              <a:solidFill>
                <a:srgbClr val="FF3131">
                  <a:alpha val="16863"/>
                </a:srgbClr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19050"/>
                <a:ext cx="958874" cy="437501"/>
              </a:xfrm>
              <a:prstGeom prst="rect">
                <a:avLst/>
              </a:prstGeom>
            </p:spPr>
            <p:txBody>
              <a:bodyPr anchor="ctr" rtlCol="false" tIns="48891" lIns="48891" bIns="48891" rIns="48891"/>
              <a:lstStyle/>
              <a:p>
                <a:pPr algn="ctr">
                  <a:lnSpc>
                    <a:spcPts val="1905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5490977" y="1318522"/>
              <a:ext cx="1047457" cy="987228"/>
            </a:xfrm>
            <a:custGeom>
              <a:avLst/>
              <a:gdLst/>
              <a:ahLst/>
              <a:cxnLst/>
              <a:rect r="r" b="b" t="t" l="l"/>
              <a:pathLst>
                <a:path h="987228" w="1047457">
                  <a:moveTo>
                    <a:pt x="0" y="0"/>
                  </a:moveTo>
                  <a:lnTo>
                    <a:pt x="1047457" y="0"/>
                  </a:lnTo>
                  <a:lnTo>
                    <a:pt x="1047457" y="987228"/>
                  </a:lnTo>
                  <a:lnTo>
                    <a:pt x="0" y="987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6654671" y="1519623"/>
              <a:ext cx="1532563" cy="598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42"/>
                </a:lnSpc>
                <a:spcBef>
                  <a:spcPct val="0"/>
                </a:spcBef>
              </a:pPr>
              <a:r>
                <a:rPr lang="en-US" b="true" sz="145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JOCKY Lexer/Parser</a:t>
              </a:r>
            </a:p>
          </p:txBody>
        </p:sp>
        <p:sp>
          <p:nvSpPr>
            <p:cNvPr name="Freeform 31" id="31"/>
            <p:cNvSpPr/>
            <p:nvPr/>
          </p:nvSpPr>
          <p:spPr>
            <a:xfrm>
              <a:off x="4125354" y="1847862"/>
              <a:ext cx="806394" cy="0"/>
            </a:xfrm>
            <a:custGeom>
              <a:avLst/>
              <a:gdLst/>
              <a:ahLst/>
              <a:cxnLst/>
              <a:rect r="r" b="b" t="t" l="l"/>
              <a:pathLst>
                <a:path h="0" w="806394">
                  <a:moveTo>
                    <a:pt x="0" y="0"/>
                  </a:moveTo>
                  <a:lnTo>
                    <a:pt x="806394" y="0"/>
                  </a:lnTo>
                </a:path>
              </a:pathLst>
            </a:custGeom>
            <a:ln cap="flat" w="33975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32" id="32"/>
            <p:cNvGrpSpPr/>
            <p:nvPr/>
          </p:nvGrpSpPr>
          <p:grpSpPr>
            <a:xfrm rot="0">
              <a:off x="9654565" y="817971"/>
              <a:ext cx="3922717" cy="2059781"/>
              <a:chOff x="0" y="0"/>
              <a:chExt cx="622439" cy="326837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22439" cy="326837"/>
              </a:xfrm>
              <a:custGeom>
                <a:avLst/>
                <a:gdLst/>
                <a:ahLst/>
                <a:cxnLst/>
                <a:rect r="r" b="b" t="t" l="l"/>
                <a:pathLst>
                  <a:path h="326837" w="622439">
                    <a:moveTo>
                      <a:pt x="72743" y="0"/>
                    </a:moveTo>
                    <a:lnTo>
                      <a:pt x="549696" y="0"/>
                    </a:lnTo>
                    <a:cubicBezTo>
                      <a:pt x="589871" y="0"/>
                      <a:pt x="622439" y="32568"/>
                      <a:pt x="622439" y="72743"/>
                    </a:cubicBezTo>
                    <a:lnTo>
                      <a:pt x="622439" y="254094"/>
                    </a:lnTo>
                    <a:cubicBezTo>
                      <a:pt x="622439" y="273386"/>
                      <a:pt x="614775" y="291889"/>
                      <a:pt x="601133" y="305531"/>
                    </a:cubicBezTo>
                    <a:cubicBezTo>
                      <a:pt x="587491" y="319173"/>
                      <a:pt x="568989" y="326837"/>
                      <a:pt x="549696" y="326837"/>
                    </a:cubicBezTo>
                    <a:lnTo>
                      <a:pt x="72743" y="326837"/>
                    </a:lnTo>
                    <a:cubicBezTo>
                      <a:pt x="32568" y="326837"/>
                      <a:pt x="0" y="294269"/>
                      <a:pt x="0" y="254094"/>
                    </a:cubicBezTo>
                    <a:lnTo>
                      <a:pt x="0" y="72743"/>
                    </a:lnTo>
                    <a:cubicBezTo>
                      <a:pt x="0" y="53451"/>
                      <a:pt x="7664" y="34948"/>
                      <a:pt x="21306" y="21306"/>
                    </a:cubicBezTo>
                    <a:cubicBezTo>
                      <a:pt x="34948" y="7664"/>
                      <a:pt x="53451" y="0"/>
                      <a:pt x="72743" y="0"/>
                    </a:cubicBezTo>
                    <a:close/>
                  </a:path>
                </a:pathLst>
              </a:custGeom>
              <a:solidFill>
                <a:srgbClr val="FCEED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19050"/>
                <a:ext cx="622439" cy="345887"/>
              </a:xfrm>
              <a:prstGeom prst="rect">
                <a:avLst/>
              </a:prstGeom>
            </p:spPr>
            <p:txBody>
              <a:bodyPr anchor="ctr" rtlCol="false" tIns="50073" lIns="50073" bIns="50073" rIns="50073"/>
              <a:lstStyle/>
              <a:p>
                <a:pPr algn="ctr">
                  <a:lnSpc>
                    <a:spcPts val="1905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9912726" y="1064370"/>
              <a:ext cx="3426987" cy="1495531"/>
              <a:chOff x="0" y="0"/>
              <a:chExt cx="958874" cy="418451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958874" cy="418451"/>
              </a:xfrm>
              <a:custGeom>
                <a:avLst/>
                <a:gdLst/>
                <a:ahLst/>
                <a:cxnLst/>
                <a:rect r="r" b="b" t="t" l="l"/>
                <a:pathLst>
                  <a:path h="418451" w="958874">
                    <a:moveTo>
                      <a:pt x="53720" y="0"/>
                    </a:moveTo>
                    <a:lnTo>
                      <a:pt x="905154" y="0"/>
                    </a:lnTo>
                    <a:cubicBezTo>
                      <a:pt x="919402" y="0"/>
                      <a:pt x="933065" y="5660"/>
                      <a:pt x="943140" y="15734"/>
                    </a:cubicBezTo>
                    <a:cubicBezTo>
                      <a:pt x="953214" y="25809"/>
                      <a:pt x="958874" y="39473"/>
                      <a:pt x="958874" y="53720"/>
                    </a:cubicBezTo>
                    <a:lnTo>
                      <a:pt x="958874" y="364731"/>
                    </a:lnTo>
                    <a:cubicBezTo>
                      <a:pt x="958874" y="394400"/>
                      <a:pt x="934823" y="418451"/>
                      <a:pt x="905154" y="418451"/>
                    </a:cubicBezTo>
                    <a:lnTo>
                      <a:pt x="53720" y="418451"/>
                    </a:lnTo>
                    <a:cubicBezTo>
                      <a:pt x="39473" y="418451"/>
                      <a:pt x="25809" y="412791"/>
                      <a:pt x="15734" y="402717"/>
                    </a:cubicBezTo>
                    <a:cubicBezTo>
                      <a:pt x="5660" y="392642"/>
                      <a:pt x="0" y="378979"/>
                      <a:pt x="0" y="364731"/>
                    </a:cubicBezTo>
                    <a:lnTo>
                      <a:pt x="0" y="53720"/>
                    </a:lnTo>
                    <a:cubicBezTo>
                      <a:pt x="0" y="39473"/>
                      <a:pt x="5660" y="25809"/>
                      <a:pt x="15734" y="15734"/>
                    </a:cubicBezTo>
                    <a:cubicBezTo>
                      <a:pt x="25809" y="5660"/>
                      <a:pt x="39473" y="0"/>
                      <a:pt x="53720" y="0"/>
                    </a:cubicBezTo>
                    <a:close/>
                  </a:path>
                </a:pathLst>
              </a:custGeom>
              <a:solidFill>
                <a:srgbClr val="FF3131">
                  <a:alpha val="16863"/>
                </a:srgbClr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19050"/>
                <a:ext cx="958874" cy="437501"/>
              </a:xfrm>
              <a:prstGeom prst="rect">
                <a:avLst/>
              </a:prstGeom>
            </p:spPr>
            <p:txBody>
              <a:bodyPr anchor="ctr" rtlCol="false" tIns="48891" lIns="48891" bIns="48891" rIns="48891"/>
              <a:lstStyle/>
              <a:p>
                <a:pPr algn="ctr">
                  <a:lnSpc>
                    <a:spcPts val="1905"/>
                  </a:lnSpc>
                </a:pPr>
              </a:p>
            </p:txBody>
          </p:sp>
        </p:grpSp>
        <p:sp>
          <p:nvSpPr>
            <p:cNvPr name="Freeform 38" id="38"/>
            <p:cNvSpPr/>
            <p:nvPr/>
          </p:nvSpPr>
          <p:spPr>
            <a:xfrm flipH="false" flipV="false" rot="0">
              <a:off x="10330032" y="1309292"/>
              <a:ext cx="1047457" cy="987228"/>
            </a:xfrm>
            <a:custGeom>
              <a:avLst/>
              <a:gdLst/>
              <a:ahLst/>
              <a:cxnLst/>
              <a:rect r="r" b="b" t="t" l="l"/>
              <a:pathLst>
                <a:path h="987228" w="1047457">
                  <a:moveTo>
                    <a:pt x="0" y="0"/>
                  </a:moveTo>
                  <a:lnTo>
                    <a:pt x="1047457" y="0"/>
                  </a:lnTo>
                  <a:lnTo>
                    <a:pt x="1047457" y="987228"/>
                  </a:lnTo>
                  <a:lnTo>
                    <a:pt x="0" y="987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 rot="0">
              <a:off x="11377489" y="1519623"/>
              <a:ext cx="1532563" cy="598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42"/>
                </a:lnSpc>
              </a:pPr>
              <a:r>
                <a:rPr lang="en-US" sz="1451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LLVM IR </a:t>
              </a:r>
            </a:p>
            <a:p>
              <a:pPr algn="ctr">
                <a:lnSpc>
                  <a:spcPts val="1742"/>
                </a:lnSpc>
                <a:spcBef>
                  <a:spcPct val="0"/>
                </a:spcBef>
              </a:pPr>
              <a:r>
                <a:rPr lang="en-US" b="true" sz="145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Frontend</a:t>
              </a:r>
            </a:p>
          </p:txBody>
        </p:sp>
        <p:grpSp>
          <p:nvGrpSpPr>
            <p:cNvPr name="Group 40" id="40"/>
            <p:cNvGrpSpPr/>
            <p:nvPr/>
          </p:nvGrpSpPr>
          <p:grpSpPr>
            <a:xfrm rot="0">
              <a:off x="14377382" y="817971"/>
              <a:ext cx="3922717" cy="2059781"/>
              <a:chOff x="0" y="0"/>
              <a:chExt cx="622439" cy="32683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622439" cy="326837"/>
              </a:xfrm>
              <a:custGeom>
                <a:avLst/>
                <a:gdLst/>
                <a:ahLst/>
                <a:cxnLst/>
                <a:rect r="r" b="b" t="t" l="l"/>
                <a:pathLst>
                  <a:path h="326837" w="622439">
                    <a:moveTo>
                      <a:pt x="72743" y="0"/>
                    </a:moveTo>
                    <a:lnTo>
                      <a:pt x="549696" y="0"/>
                    </a:lnTo>
                    <a:cubicBezTo>
                      <a:pt x="589871" y="0"/>
                      <a:pt x="622439" y="32568"/>
                      <a:pt x="622439" y="72743"/>
                    </a:cubicBezTo>
                    <a:lnTo>
                      <a:pt x="622439" y="254094"/>
                    </a:lnTo>
                    <a:cubicBezTo>
                      <a:pt x="622439" y="273386"/>
                      <a:pt x="614775" y="291889"/>
                      <a:pt x="601133" y="305531"/>
                    </a:cubicBezTo>
                    <a:cubicBezTo>
                      <a:pt x="587491" y="319173"/>
                      <a:pt x="568989" y="326837"/>
                      <a:pt x="549696" y="326837"/>
                    </a:cubicBezTo>
                    <a:lnTo>
                      <a:pt x="72743" y="326837"/>
                    </a:lnTo>
                    <a:cubicBezTo>
                      <a:pt x="32568" y="326837"/>
                      <a:pt x="0" y="294269"/>
                      <a:pt x="0" y="254094"/>
                    </a:cubicBezTo>
                    <a:lnTo>
                      <a:pt x="0" y="72743"/>
                    </a:lnTo>
                    <a:cubicBezTo>
                      <a:pt x="0" y="53451"/>
                      <a:pt x="7664" y="34948"/>
                      <a:pt x="21306" y="21306"/>
                    </a:cubicBezTo>
                    <a:cubicBezTo>
                      <a:pt x="34948" y="7664"/>
                      <a:pt x="53451" y="0"/>
                      <a:pt x="72743" y="0"/>
                    </a:cubicBezTo>
                    <a:close/>
                  </a:path>
                </a:pathLst>
              </a:custGeom>
              <a:solidFill>
                <a:srgbClr val="FCEED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19050"/>
                <a:ext cx="622439" cy="345887"/>
              </a:xfrm>
              <a:prstGeom prst="rect">
                <a:avLst/>
              </a:prstGeom>
            </p:spPr>
            <p:txBody>
              <a:bodyPr anchor="ctr" rtlCol="false" tIns="50073" lIns="50073" bIns="50073" rIns="50073"/>
              <a:lstStyle/>
              <a:p>
                <a:pPr algn="ctr">
                  <a:lnSpc>
                    <a:spcPts val="1905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14635543" y="1064370"/>
              <a:ext cx="3426987" cy="1495531"/>
              <a:chOff x="0" y="0"/>
              <a:chExt cx="958874" cy="418451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958874" cy="418451"/>
              </a:xfrm>
              <a:custGeom>
                <a:avLst/>
                <a:gdLst/>
                <a:ahLst/>
                <a:cxnLst/>
                <a:rect r="r" b="b" t="t" l="l"/>
                <a:pathLst>
                  <a:path h="418451" w="958874">
                    <a:moveTo>
                      <a:pt x="53720" y="0"/>
                    </a:moveTo>
                    <a:lnTo>
                      <a:pt x="905154" y="0"/>
                    </a:lnTo>
                    <a:cubicBezTo>
                      <a:pt x="919402" y="0"/>
                      <a:pt x="933065" y="5660"/>
                      <a:pt x="943140" y="15734"/>
                    </a:cubicBezTo>
                    <a:cubicBezTo>
                      <a:pt x="953214" y="25809"/>
                      <a:pt x="958874" y="39473"/>
                      <a:pt x="958874" y="53720"/>
                    </a:cubicBezTo>
                    <a:lnTo>
                      <a:pt x="958874" y="364731"/>
                    </a:lnTo>
                    <a:cubicBezTo>
                      <a:pt x="958874" y="394400"/>
                      <a:pt x="934823" y="418451"/>
                      <a:pt x="905154" y="418451"/>
                    </a:cubicBezTo>
                    <a:lnTo>
                      <a:pt x="53720" y="418451"/>
                    </a:lnTo>
                    <a:cubicBezTo>
                      <a:pt x="39473" y="418451"/>
                      <a:pt x="25809" y="412791"/>
                      <a:pt x="15734" y="402717"/>
                    </a:cubicBezTo>
                    <a:cubicBezTo>
                      <a:pt x="5660" y="392642"/>
                      <a:pt x="0" y="378979"/>
                      <a:pt x="0" y="364731"/>
                    </a:cubicBezTo>
                    <a:lnTo>
                      <a:pt x="0" y="53720"/>
                    </a:lnTo>
                    <a:cubicBezTo>
                      <a:pt x="0" y="39473"/>
                      <a:pt x="5660" y="25809"/>
                      <a:pt x="15734" y="15734"/>
                    </a:cubicBezTo>
                    <a:cubicBezTo>
                      <a:pt x="25809" y="5660"/>
                      <a:pt x="39473" y="0"/>
                      <a:pt x="53720" y="0"/>
                    </a:cubicBezTo>
                    <a:close/>
                  </a:path>
                </a:pathLst>
              </a:custGeom>
              <a:solidFill>
                <a:srgbClr val="FF3131">
                  <a:alpha val="16863"/>
                </a:srgbClr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19050"/>
                <a:ext cx="958874" cy="437501"/>
              </a:xfrm>
              <a:prstGeom prst="rect">
                <a:avLst/>
              </a:prstGeom>
            </p:spPr>
            <p:txBody>
              <a:bodyPr anchor="ctr" rtlCol="false" tIns="48891" lIns="48891" bIns="48891" rIns="48891"/>
              <a:lstStyle/>
              <a:p>
                <a:pPr algn="ctr">
                  <a:lnSpc>
                    <a:spcPts val="1905"/>
                  </a:lnSpc>
                </a:pPr>
              </a:p>
            </p:txBody>
          </p:sp>
        </p:grpSp>
        <p:sp>
          <p:nvSpPr>
            <p:cNvPr name="Freeform 46" id="46"/>
            <p:cNvSpPr/>
            <p:nvPr/>
          </p:nvSpPr>
          <p:spPr>
            <a:xfrm flipH="false" flipV="false" rot="0">
              <a:off x="15052849" y="1309292"/>
              <a:ext cx="1047457" cy="987228"/>
            </a:xfrm>
            <a:custGeom>
              <a:avLst/>
              <a:gdLst/>
              <a:ahLst/>
              <a:cxnLst/>
              <a:rect r="r" b="b" t="t" l="l"/>
              <a:pathLst>
                <a:path h="987228" w="1047457">
                  <a:moveTo>
                    <a:pt x="0" y="0"/>
                  </a:moveTo>
                  <a:lnTo>
                    <a:pt x="1047457" y="0"/>
                  </a:lnTo>
                  <a:lnTo>
                    <a:pt x="1047457" y="987228"/>
                  </a:lnTo>
                  <a:lnTo>
                    <a:pt x="0" y="987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 rot="0">
              <a:off x="16100306" y="1519623"/>
              <a:ext cx="1532563" cy="598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42"/>
                </a:lnSpc>
                <a:spcBef>
                  <a:spcPct val="0"/>
                </a:spcBef>
              </a:pPr>
              <a:r>
                <a:rPr lang="en-US" b="true" sz="145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Polymorphic Engine</a:t>
              </a:r>
            </a:p>
          </p:txBody>
        </p:sp>
        <p:grpSp>
          <p:nvGrpSpPr>
            <p:cNvPr name="Group 48" id="48"/>
            <p:cNvGrpSpPr/>
            <p:nvPr/>
          </p:nvGrpSpPr>
          <p:grpSpPr>
            <a:xfrm rot="0">
              <a:off x="19100199" y="817971"/>
              <a:ext cx="3922717" cy="2059781"/>
              <a:chOff x="0" y="0"/>
              <a:chExt cx="622439" cy="326837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622439" cy="326837"/>
              </a:xfrm>
              <a:custGeom>
                <a:avLst/>
                <a:gdLst/>
                <a:ahLst/>
                <a:cxnLst/>
                <a:rect r="r" b="b" t="t" l="l"/>
                <a:pathLst>
                  <a:path h="326837" w="622439">
                    <a:moveTo>
                      <a:pt x="72743" y="0"/>
                    </a:moveTo>
                    <a:lnTo>
                      <a:pt x="549696" y="0"/>
                    </a:lnTo>
                    <a:cubicBezTo>
                      <a:pt x="589871" y="0"/>
                      <a:pt x="622439" y="32568"/>
                      <a:pt x="622439" y="72743"/>
                    </a:cubicBezTo>
                    <a:lnTo>
                      <a:pt x="622439" y="254094"/>
                    </a:lnTo>
                    <a:cubicBezTo>
                      <a:pt x="622439" y="273386"/>
                      <a:pt x="614775" y="291889"/>
                      <a:pt x="601133" y="305531"/>
                    </a:cubicBezTo>
                    <a:cubicBezTo>
                      <a:pt x="587491" y="319173"/>
                      <a:pt x="568989" y="326837"/>
                      <a:pt x="549696" y="326837"/>
                    </a:cubicBezTo>
                    <a:lnTo>
                      <a:pt x="72743" y="326837"/>
                    </a:lnTo>
                    <a:cubicBezTo>
                      <a:pt x="32568" y="326837"/>
                      <a:pt x="0" y="294269"/>
                      <a:pt x="0" y="254094"/>
                    </a:cubicBezTo>
                    <a:lnTo>
                      <a:pt x="0" y="72743"/>
                    </a:lnTo>
                    <a:cubicBezTo>
                      <a:pt x="0" y="53451"/>
                      <a:pt x="7664" y="34948"/>
                      <a:pt x="21306" y="21306"/>
                    </a:cubicBezTo>
                    <a:cubicBezTo>
                      <a:pt x="34948" y="7664"/>
                      <a:pt x="53451" y="0"/>
                      <a:pt x="72743" y="0"/>
                    </a:cubicBezTo>
                    <a:close/>
                  </a:path>
                </a:pathLst>
              </a:custGeom>
              <a:solidFill>
                <a:srgbClr val="FCEEDF"/>
              </a:solid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19050"/>
                <a:ext cx="622439" cy="345887"/>
              </a:xfrm>
              <a:prstGeom prst="rect">
                <a:avLst/>
              </a:prstGeom>
            </p:spPr>
            <p:txBody>
              <a:bodyPr anchor="ctr" rtlCol="false" tIns="50073" lIns="50073" bIns="50073" rIns="50073"/>
              <a:lstStyle/>
              <a:p>
                <a:pPr algn="ctr">
                  <a:lnSpc>
                    <a:spcPts val="1905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19358360" y="1064370"/>
              <a:ext cx="3426987" cy="1495531"/>
              <a:chOff x="0" y="0"/>
              <a:chExt cx="958874" cy="418451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958874" cy="418451"/>
              </a:xfrm>
              <a:custGeom>
                <a:avLst/>
                <a:gdLst/>
                <a:ahLst/>
                <a:cxnLst/>
                <a:rect r="r" b="b" t="t" l="l"/>
                <a:pathLst>
                  <a:path h="418451" w="958874">
                    <a:moveTo>
                      <a:pt x="53720" y="0"/>
                    </a:moveTo>
                    <a:lnTo>
                      <a:pt x="905154" y="0"/>
                    </a:lnTo>
                    <a:cubicBezTo>
                      <a:pt x="919402" y="0"/>
                      <a:pt x="933065" y="5660"/>
                      <a:pt x="943140" y="15734"/>
                    </a:cubicBezTo>
                    <a:cubicBezTo>
                      <a:pt x="953214" y="25809"/>
                      <a:pt x="958874" y="39473"/>
                      <a:pt x="958874" y="53720"/>
                    </a:cubicBezTo>
                    <a:lnTo>
                      <a:pt x="958874" y="364731"/>
                    </a:lnTo>
                    <a:cubicBezTo>
                      <a:pt x="958874" y="394400"/>
                      <a:pt x="934823" y="418451"/>
                      <a:pt x="905154" y="418451"/>
                    </a:cubicBezTo>
                    <a:lnTo>
                      <a:pt x="53720" y="418451"/>
                    </a:lnTo>
                    <a:cubicBezTo>
                      <a:pt x="39473" y="418451"/>
                      <a:pt x="25809" y="412791"/>
                      <a:pt x="15734" y="402717"/>
                    </a:cubicBezTo>
                    <a:cubicBezTo>
                      <a:pt x="5660" y="392642"/>
                      <a:pt x="0" y="378979"/>
                      <a:pt x="0" y="364731"/>
                    </a:cubicBezTo>
                    <a:lnTo>
                      <a:pt x="0" y="53720"/>
                    </a:lnTo>
                    <a:cubicBezTo>
                      <a:pt x="0" y="39473"/>
                      <a:pt x="5660" y="25809"/>
                      <a:pt x="15734" y="15734"/>
                    </a:cubicBezTo>
                    <a:cubicBezTo>
                      <a:pt x="25809" y="5660"/>
                      <a:pt x="39473" y="0"/>
                      <a:pt x="53720" y="0"/>
                    </a:cubicBezTo>
                    <a:close/>
                  </a:path>
                </a:pathLst>
              </a:custGeom>
              <a:solidFill>
                <a:srgbClr val="FF3131">
                  <a:alpha val="16863"/>
                </a:srgbClr>
              </a:solidFill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19050"/>
                <a:ext cx="958874" cy="437501"/>
              </a:xfrm>
              <a:prstGeom prst="rect">
                <a:avLst/>
              </a:prstGeom>
            </p:spPr>
            <p:txBody>
              <a:bodyPr anchor="ctr" rtlCol="false" tIns="48891" lIns="48891" bIns="48891" rIns="48891"/>
              <a:lstStyle/>
              <a:p>
                <a:pPr algn="ctr">
                  <a:lnSpc>
                    <a:spcPts val="1905"/>
                  </a:lnSpc>
                </a:pPr>
              </a:p>
            </p:txBody>
          </p:sp>
        </p:grpSp>
        <p:sp>
          <p:nvSpPr>
            <p:cNvPr name="Freeform 54" id="54"/>
            <p:cNvSpPr/>
            <p:nvPr/>
          </p:nvSpPr>
          <p:spPr>
            <a:xfrm flipH="false" flipV="false" rot="0">
              <a:off x="19775666" y="1309292"/>
              <a:ext cx="1047457" cy="987228"/>
            </a:xfrm>
            <a:custGeom>
              <a:avLst/>
              <a:gdLst/>
              <a:ahLst/>
              <a:cxnLst/>
              <a:rect r="r" b="b" t="t" l="l"/>
              <a:pathLst>
                <a:path h="987228" w="1047457">
                  <a:moveTo>
                    <a:pt x="0" y="0"/>
                  </a:moveTo>
                  <a:lnTo>
                    <a:pt x="1047457" y="0"/>
                  </a:lnTo>
                  <a:lnTo>
                    <a:pt x="1047457" y="987228"/>
                  </a:lnTo>
                  <a:lnTo>
                    <a:pt x="0" y="987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 rot="0">
              <a:off x="20823123" y="1655387"/>
              <a:ext cx="1532563" cy="303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42"/>
                </a:lnSpc>
                <a:spcBef>
                  <a:spcPct val="0"/>
                </a:spcBef>
              </a:pPr>
              <a:r>
                <a:rPr lang="en-US" b="true" sz="1451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Executable</a:t>
              </a:r>
            </a:p>
          </p:txBody>
        </p:sp>
        <p:sp>
          <p:nvSpPr>
            <p:cNvPr name="Freeform 56" id="56"/>
            <p:cNvSpPr/>
            <p:nvPr/>
          </p:nvSpPr>
          <p:spPr>
            <a:xfrm>
              <a:off x="9251368" y="1828812"/>
              <a:ext cx="403197" cy="0"/>
            </a:xfrm>
            <a:custGeom>
              <a:avLst/>
              <a:gdLst/>
              <a:ahLst/>
              <a:cxnLst/>
              <a:rect r="r" b="b" t="t" l="l"/>
              <a:pathLst>
                <a:path h="0" w="403197">
                  <a:moveTo>
                    <a:pt x="0" y="0"/>
                  </a:moveTo>
                  <a:lnTo>
                    <a:pt x="403197" y="0"/>
                  </a:lnTo>
                </a:path>
              </a:pathLst>
            </a:custGeom>
            <a:ln cap="flat" w="33975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Freeform 57" id="57"/>
            <p:cNvSpPr/>
            <p:nvPr/>
          </p:nvSpPr>
          <p:spPr>
            <a:xfrm>
              <a:off x="13974186" y="1809762"/>
              <a:ext cx="403196" cy="0"/>
            </a:xfrm>
            <a:custGeom>
              <a:avLst/>
              <a:gdLst/>
              <a:ahLst/>
              <a:cxnLst/>
              <a:rect r="r" b="b" t="t" l="l"/>
              <a:pathLst>
                <a:path h="0" w="403196">
                  <a:moveTo>
                    <a:pt x="0" y="0"/>
                  </a:moveTo>
                  <a:lnTo>
                    <a:pt x="403195" y="0"/>
                  </a:lnTo>
                </a:path>
              </a:pathLst>
            </a:custGeom>
            <a:ln cap="flat" w="33975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Freeform 58" id="58"/>
            <p:cNvSpPr/>
            <p:nvPr/>
          </p:nvSpPr>
          <p:spPr>
            <a:xfrm>
              <a:off x="18697003" y="1790712"/>
              <a:ext cx="403197" cy="0"/>
            </a:xfrm>
            <a:custGeom>
              <a:avLst/>
              <a:gdLst/>
              <a:ahLst/>
              <a:cxnLst/>
              <a:rect r="r" b="b" t="t" l="l"/>
              <a:pathLst>
                <a:path h="0" w="403197">
                  <a:moveTo>
                    <a:pt x="0" y="0"/>
                  </a:moveTo>
                  <a:lnTo>
                    <a:pt x="403197" y="0"/>
                  </a:lnTo>
                </a:path>
              </a:pathLst>
            </a:custGeom>
            <a:ln cap="flat" w="33975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</p:grpSp>
      <p:sp>
        <p:nvSpPr>
          <p:cNvPr name="Freeform 59" id="59"/>
          <p:cNvSpPr/>
          <p:nvPr/>
        </p:nvSpPr>
        <p:spPr>
          <a:xfrm flipH="false" flipV="false" rot="0">
            <a:off x="17722632" y="4712786"/>
            <a:ext cx="785593" cy="740421"/>
          </a:xfrm>
          <a:custGeom>
            <a:avLst/>
            <a:gdLst/>
            <a:ahLst/>
            <a:cxnLst/>
            <a:rect r="r" b="b" t="t" l="l"/>
            <a:pathLst>
              <a:path h="740421" w="785593">
                <a:moveTo>
                  <a:pt x="0" y="0"/>
                </a:moveTo>
                <a:lnTo>
                  <a:pt x="785592" y="0"/>
                </a:lnTo>
                <a:lnTo>
                  <a:pt x="785592" y="740421"/>
                </a:lnTo>
                <a:lnTo>
                  <a:pt x="0" y="7404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16462726" y="4631800"/>
            <a:ext cx="1149422" cy="451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2"/>
              </a:lnSpc>
              <a:spcBef>
                <a:spcPct val="0"/>
              </a:spcBef>
            </a:pPr>
            <a:r>
              <a:rPr lang="en-US" b="true" sz="145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Source Code (.jky)</a:t>
            </a:r>
          </a:p>
        </p:txBody>
      </p:sp>
      <p:sp>
        <p:nvSpPr>
          <p:cNvPr name="AutoShape 61" id="61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DAHTwoI6Ip0</dc:identifier>
  <dcterms:modified xsi:type="dcterms:W3CDTF">2011-08-01T06:04:30Z</dcterms:modified>
  <cp:revision>1</cp:revision>
  <dc:title>SIH2026-IDEA-Presentation-Format.pptx</dc:title>
</cp:coreProperties>
</file>